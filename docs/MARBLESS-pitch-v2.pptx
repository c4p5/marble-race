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10s
Soy [NOMBRE], de Arturito Labs. Esto es MARBLESS: carreras de bolitas probadamente justas, sobre Ethereum.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Las carreras de bolitas ya son un fenómeno de masas. Un solo canal — Jelle's Marble Runs — tiene un millón y medio de suscriptores y más de doscientos millones de vistas. Estuvo en HBO y en ESPN. Y mirá bien lo que está pasando acá: TODO EL MUNDO MIRA. NADIE PARTICIPA. No podés tener una bolita, no podés competir con ella, y no podés probar que el resultado no se armó en la edición, o que la física no está arreglada a favor de una.
[PRODUCCIÓN] El video de la carrera va de fondo, a baja opacidad. Atribución abajo a la derecha.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MARBLESS agarra ese fenómeno y le agrega las tres cosas que un video no puede dar. PROPIEDAD: tu bolita es un NFT tuyo. PARTICIPACIÓN: entrás a la carrera y podés ganar. Y JUSTICIA DEMOSTRABLE: el ganador lo elige Chainlink VRF, con prueba criptográfica — fuera del alcance nuestro, del jugador y del validador. Nadie tiene que confiar en nosotros.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 LA SLIDE
El loop es simple: minteás tu bolita, va acumulando crédito, entrás a una carrera con una sola acción, y el ganador lo sortea Chainlink.
Pero no les quiero mostrar una maqueta. ESTA CARRERA PASÓ DE VERDAD, EN SEPOLIA. Ocho jugadores, pot de dieciocho, este fue el orden de llegada, estos los pagos, cero dust. VRF respondió en sesenta segundos.
Y acá está lo importante: AGARRAMOS EL NÚMERO ALEATORIO PÚBLICO, REHICIMOS EL SORTEO POR NUESTRA CUENTA FUERA DE LA CADENA, Y NOS DIO EXACTAMENTE EL MISMO PODIO. OCHO DE OCHO. Cualquiera en esta sala puede hacer lo mismo desde el celular, ahora.
[PRODUCCIÓN] QR a la tx de settle en Etherscan. NO hacer la carrera en vivo: VRF tarda 60s y rescueStalled recién habilita a deadline + 1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El gaming Web3 es un mercado de cuarenta y ocho mil millones de dólares este año, creciendo al veintidós por ciento anual. Pero lo que nos importa no es el tamaño del mercado: es que LA AUDIENCIA DE LAS CARRERAS DE BOLITAS YA EXISTE, YA ES DE MILLONES, Y NO HAY NADA QUE LE PERMITA PARTICIPAR. Nosotros no tenemos que crear la demanda. Tenemos que darle una puerta.
[DEFENSA] Las estimaciones de gaming Web3 varían de 33 a 279 mil M según la definición. Elegí a propósito la más conservadora. Si un juez tira otro número, esa es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Fase uno: las dieciséis bolitas especiales son licencias de creador. Hospedan carreras, cobran su corte, tienen estadísticas propias — un streamer compra una y corre carreras para su audiencia. Fase dos es donde esto se pone interesante: el crédito que ganaste jugando puede entrar a las apuestas de la carrera física semanal. SIN DEPÓSITO, SIN ON-RAMP — APOSTÁS LO QUE GANASTE JUGANDO, NO LO QUE SACASTE DEL BOLSILLO. Eso no existe en ningún lado.
[BARANDAS] No digas que la quema hace deflacionario al token (harían falta ~280 carreras/día). Decí 'cada carrera quema el 10% del pot' y nada más. No presentes el corte de las carreras digitales como ingreso de Fase 1: hoy va al host y el token no tiene mercado. El mint público ES GRATIS — lo que se vende son las 16 especiales.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El contenido de bolitas tiene la audiencia pero no te deja jugar. Los juegos de azar onchain te dejan jugar y son verificables, pero son timba pura — no tienen historia ni audiencia. Y las apuestas web2 tienen las dos cosas, pero le tenés que creer a la casa. SOMOS EL ÚNICO QUE TIENE LOS TRES. Y el crédito se gana jugando: no es un casino con otra cara.
[DECISIÓN DEL OWNER] Zed Run NO va en la slide. Respuesta preparada para Q&amp;A: 'Zed Run era pay-to-play con plata real y un resultado que le tenías que creer al operador. Nosotros somos lo inverso en las dos cosas: jugás con crédito que ganaste, no con plata que depositaste, y el resultado lo firma Chainlink VRF — cualquiera lo recomputa desde el randomWord público. Nosotros ya lo hicimos: ocho de ocho.'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10s
Somos dos. Yo hice los contratos y el producto: cuatro contratos vivos y verificados en Sepolia, setenta y seis tests en verde. Emanuel es Licenciado en Diseño de Comunicación Visual y hace todo lo que están viendo en pantalla.
⚠️ COMPLETAR: reemplazá [TU NOMBRE] y ajustá tu línea de credencial.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10s — ESTA SLIDE QUEDA EN PANTALLA DURANTE LOS 2 MINUTOS DE Q&amp;A
Hoy el loop completo está vivo y verificado en Sepolia. Lo próximo son las primeras carreras con público real. Y la fase dos es la carrera física semanal transmitida, con las dieciséis bolitas reales espejadas onchain.
CONVERTIMOS UN FENÓMENO PASIVO EN UN JUEGO QUE SE POSEE, SE JUEGA Y SE PUEDE PROBAR. Gracias.
[PRODUCCIÓN] Poner el QR real a la dApp. Probarlo con un celular que no sea el tuyo.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2"/>
        </a:solidFill>
      </p:bgPr>
    </p:bg>
    <p:spTree>
      <p:nvGrpSpPr>
        <p:cNvPr id="1" name=""/>
        <p:cNvGrpSpPr/>
        <p:nvPr/>
      </p:nvGrpSpPr>
      <p:grpSpPr>
        <a:xfrm>
          <a:off x="0" y="0"/>
          <a:ext cx="0" cy="0"/>
          <a:chOff x="0" y="0"/>
          <a:chExt cx="0" cy="0"/>
        </a:xfrm>
      </p:grpSpPr>
      <p:sp>
        <p:nvSpPr>
          <p:cNvPr id="3" name="Text 0"/>
          <p:cNvSpPr/>
          <p:nvPr/>
        </p:nvSpPr>
        <p:spPr>
          <a:xfrm>
            <a:off x="685800" y="457200"/>
            <a:ext cx="10817352" cy="274320"/>
          </a:xfrm>
          <a:prstGeom prst="rect">
            <a:avLst/>
          </a:prstGeom>
          <a:noFill/>
          <a:ln/>
        </p:spPr>
        <p:txBody>
          <a:bodyPr wrap="square" rtlCol="0" anchor="ctr"/>
          <a:lstStyle/>
          <a:p>
            <a:pPr indent="0" marL="0">
              <a:buNone/>
            </a:pPr>
            <a:r>
              <a:rPr lang="en-US" sz="1150" b="1" spc="200" kern="0" dirty="0">
                <a:solidFill>
                  <a:srgbClr val="8A93A6"/>
                </a:solidFill>
                <a:latin typeface="Arial" pitchFamily="34" charset="0"/>
                <a:ea typeface="Arial" pitchFamily="34" charset="-122"/>
                <a:cs typeface="Arial" pitchFamily="34" charset="-120"/>
              </a:rPr>
              <a:t>FINALISTA · ETHEREUM BUILDATHON URUGUAY 2026  ·  ARTURITO LABS</a:t>
            </a:r>
            <a:endParaRPr lang="en-US" sz="1150" dirty="0"/>
          </a:p>
        </p:txBody>
      </p:sp>
      <p:sp>
        <p:nvSpPr>
          <p:cNvPr id="4" name="Text 1"/>
          <p:cNvSpPr/>
          <p:nvPr/>
        </p:nvSpPr>
        <p:spPr>
          <a:xfrm>
            <a:off x="685800" y="2148840"/>
            <a:ext cx="7680960" cy="1234440"/>
          </a:xfrm>
          <a:prstGeom prst="rect">
            <a:avLst/>
          </a:prstGeom>
          <a:noFill/>
          <a:ln/>
        </p:spPr>
        <p:txBody>
          <a:bodyPr wrap="square" rtlCol="0" anchor="ctr"/>
          <a:lstStyle/>
          <a:p>
            <a:pPr indent="0" marL="0">
              <a:buNone/>
            </a:pPr>
            <a:r>
              <a:rPr lang="en-US" sz="6600" b="1" spc="100" kern="0" dirty="0">
                <a:solidFill>
                  <a:srgbClr val="F2F3F5"/>
                </a:solidFill>
                <a:latin typeface="Arial" pitchFamily="34" charset="0"/>
                <a:ea typeface="Arial" pitchFamily="34" charset="-122"/>
                <a:cs typeface="Arial" pitchFamily="34" charset="-120"/>
              </a:rPr>
              <a:t>MARBLESS</a:t>
            </a:r>
            <a:endParaRPr lang="en-US" sz="6600" dirty="0"/>
          </a:p>
        </p:txBody>
      </p:sp>
      <p:sp>
        <p:nvSpPr>
          <p:cNvPr id="5" name="Text 2"/>
          <p:cNvSpPr/>
          <p:nvPr/>
        </p:nvSpPr>
        <p:spPr>
          <a:xfrm>
            <a:off x="685800" y="3429000"/>
            <a:ext cx="7680960" cy="457200"/>
          </a:xfrm>
          <a:prstGeom prst="rect">
            <a:avLst/>
          </a:prstGeom>
          <a:noFill/>
          <a:ln/>
        </p:spPr>
        <p:txBody>
          <a:bodyPr wrap="square" rtlCol="0" anchor="ctr"/>
          <a:lstStyle/>
          <a:p>
            <a:pPr indent="0" marL="0">
              <a:buNone/>
            </a:pPr>
            <a:r>
              <a:rPr lang="en-US" sz="2400" b="1" dirty="0">
                <a:solidFill>
                  <a:srgbClr val="F2F3F5"/>
                </a:solidFill>
                <a:latin typeface="Arial" pitchFamily="34" charset="0"/>
                <a:ea typeface="Arial" pitchFamily="34" charset="-122"/>
                <a:cs typeface="Arial" pitchFamily="34" charset="-120"/>
              </a:rPr>
              <a:t>Carreras de bolitas </a:t>
            </a:r>
            <a:pPr indent="0" marL="0">
              <a:buNone/>
            </a:pPr>
            <a:r>
              <a:rPr lang="en-US" sz="2400" b="1" dirty="0">
                <a:solidFill>
                  <a:srgbClr val="FF6A2C"/>
                </a:solidFill>
                <a:latin typeface="Arial" pitchFamily="34" charset="0"/>
                <a:ea typeface="Arial" pitchFamily="34" charset="-122"/>
                <a:cs typeface="Arial" pitchFamily="34" charset="-120"/>
              </a:rPr>
              <a:t>justas</a:t>
            </a:r>
            <a:pPr indent="0" marL="0">
              <a:buNone/>
            </a:pPr>
            <a:r>
              <a:rPr lang="en-US" sz="2400" b="1" dirty="0">
                <a:solidFill>
                  <a:srgbClr val="F2F3F5"/>
                </a:solidFill>
                <a:latin typeface="Arial" pitchFamily="34" charset="0"/>
                <a:ea typeface="Arial" pitchFamily="34" charset="-122"/>
                <a:cs typeface="Arial" pitchFamily="34" charset="-120"/>
              </a:rPr>
              <a:t>, onchain.</a:t>
            </a:r>
            <a:endParaRPr lang="en-US" sz="2400" dirty="0"/>
          </a:p>
        </p:txBody>
      </p:sp>
      <p:sp>
        <p:nvSpPr>
          <p:cNvPr id="6" name="Text 3"/>
          <p:cNvSpPr/>
          <p:nvPr/>
        </p:nvSpPr>
        <p:spPr>
          <a:xfrm>
            <a:off x="685800" y="3977640"/>
            <a:ext cx="7680960" cy="731520"/>
          </a:xfrm>
          <a:prstGeom prst="rect">
            <a:avLst/>
          </a:prstGeom>
          <a:noFill/>
          <a:ln/>
        </p:spPr>
        <p:txBody>
          <a:bodyPr wrap="square" rtlCol="0" anchor="ctr"/>
          <a:lstStyle/>
          <a:p>
            <a:pPr indent="0" marL="0">
              <a:lnSpc>
                <a:spcPts val="2200"/>
              </a:lnSpc>
              <a:buNone/>
            </a:pPr>
            <a:r>
              <a:rPr lang="en-US" sz="1400" dirty="0">
                <a:solidFill>
                  <a:srgbClr val="8A93A6"/>
                </a:solidFill>
                <a:latin typeface="Arial" pitchFamily="34" charset="0"/>
                <a:ea typeface="Arial" pitchFamily="34" charset="-122"/>
                <a:cs typeface="Arial" pitchFamily="34" charset="-120"/>
              </a:rPr>
              <a:t>Propiedad · Participación · Justicia demostrable</a:t>
            </a:r>
            <a:endParaRPr lang="en-US" sz="1400" dirty="0"/>
          </a:p>
          <a:p>
            <a:pPr indent="0" marL="0">
              <a:lnSpc>
                <a:spcPts val="2200"/>
              </a:lnSpc>
              <a:buNone/>
            </a:pPr>
            <a:r>
              <a:rPr lang="en-US" sz="1400" dirty="0">
                <a:solidFill>
                  <a:srgbClr val="8A93A6"/>
                </a:solidFill>
                <a:latin typeface="Arial" pitchFamily="34" charset="0"/>
                <a:ea typeface="Arial" pitchFamily="34" charset="-122"/>
                <a:cs typeface="Arial" pitchFamily="34" charset="-120"/>
              </a:rPr>
              <a:t>— las tres cosas que un video no puede darte.</a:t>
            </a:r>
            <a:endParaRPr lang="en-US" sz="1400" dirty="0"/>
          </a:p>
        </p:txBody>
      </p:sp>
      <p:sp>
        <p:nvSpPr>
          <p:cNvPr id="7" name="Shape 4"/>
          <p:cNvSpPr/>
          <p:nvPr/>
        </p:nvSpPr>
        <p:spPr>
          <a:xfrm>
            <a:off x="9281160" y="1691640"/>
            <a:ext cx="914400" cy="914400"/>
          </a:xfrm>
          <a:prstGeom prst="ellipse">
            <a:avLst/>
          </a:prstGeom>
          <a:solidFill>
            <a:srgbClr val="FF6A2C"/>
          </a:solidFill>
          <a:ln w="12700">
            <a:solidFill>
              <a:srgbClr val="333333"/>
            </a:solidFill>
            <a:prstDash val="solid"/>
          </a:ln>
        </p:spPr>
      </p:sp>
      <p:sp>
        <p:nvSpPr>
          <p:cNvPr id="8" name="Text 5"/>
          <p:cNvSpPr/>
          <p:nvPr/>
        </p:nvSpPr>
        <p:spPr>
          <a:xfrm>
            <a:off x="9281160" y="1691640"/>
            <a:ext cx="914400" cy="9144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Shape 6"/>
          <p:cNvSpPr/>
          <p:nvPr/>
        </p:nvSpPr>
        <p:spPr>
          <a:xfrm>
            <a:off x="10195560" y="2331720"/>
            <a:ext cx="749808" cy="749808"/>
          </a:xfrm>
          <a:prstGeom prst="ellipse">
            <a:avLst/>
          </a:prstGeom>
          <a:solidFill>
            <a:srgbClr val="2FE0E0"/>
          </a:solidFill>
          <a:ln w="12700">
            <a:solidFill>
              <a:srgbClr val="333333"/>
            </a:solidFill>
            <a:prstDash val="solid"/>
          </a:ln>
        </p:spPr>
      </p:sp>
      <p:sp>
        <p:nvSpPr>
          <p:cNvPr id="10" name="Text 7"/>
          <p:cNvSpPr/>
          <p:nvPr/>
        </p:nvSpPr>
        <p:spPr>
          <a:xfrm>
            <a:off x="10195560" y="2331720"/>
            <a:ext cx="749808" cy="74980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1" name="Shape 8"/>
          <p:cNvSpPr/>
          <p:nvPr/>
        </p:nvSpPr>
        <p:spPr>
          <a:xfrm>
            <a:off x="9144000" y="2788920"/>
            <a:ext cx="658368" cy="658368"/>
          </a:xfrm>
          <a:prstGeom prst="ellipse">
            <a:avLst/>
          </a:prstGeom>
          <a:solidFill>
            <a:srgbClr val="44DC8A"/>
          </a:solidFill>
          <a:ln w="12700">
            <a:solidFill>
              <a:srgbClr val="333333"/>
            </a:solidFill>
            <a:prstDash val="solid"/>
          </a:ln>
        </p:spPr>
      </p:sp>
      <p:sp>
        <p:nvSpPr>
          <p:cNvPr id="12" name="Text 9"/>
          <p:cNvSpPr/>
          <p:nvPr/>
        </p:nvSpPr>
        <p:spPr>
          <a:xfrm>
            <a:off x="9144000" y="2788920"/>
            <a:ext cx="658368" cy="658368"/>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13" name="Shape 10"/>
          <p:cNvSpPr/>
          <p:nvPr/>
        </p:nvSpPr>
        <p:spPr>
          <a:xfrm>
            <a:off x="10104120" y="3310128"/>
            <a:ext cx="512064" cy="512064"/>
          </a:xfrm>
          <a:prstGeom prst="ellipse">
            <a:avLst/>
          </a:prstGeom>
          <a:solidFill>
            <a:srgbClr val="9AA3B0"/>
          </a:solidFill>
          <a:ln w="12700">
            <a:solidFill>
              <a:srgbClr val="333333"/>
            </a:solidFill>
            <a:prstDash val="solid"/>
          </a:ln>
        </p:spPr>
      </p:sp>
      <p:sp>
        <p:nvSpPr>
          <p:cNvPr id="14" name="Text 11"/>
          <p:cNvSpPr/>
          <p:nvPr/>
        </p:nvSpPr>
        <p:spPr>
          <a:xfrm>
            <a:off x="10104120" y="3310128"/>
            <a:ext cx="512064" cy="51206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2"/>
        </a:solidFill>
      </p:bgPr>
    </p:bg>
    <p:spTree>
      <p:nvGrpSpPr>
        <p:cNvPr id="1" name=""/>
        <p:cNvGrpSpPr/>
        <p:nvPr/>
      </p:nvGrpSpPr>
      <p:grpSpPr>
        <a:xfrm>
          <a:off x="0" y="0"/>
          <a:ext cx="0" cy="0"/>
          <a:chOff x="0" y="0"/>
          <a:chExt cx="0" cy="0"/>
        </a:xfrm>
      </p:grpSpPr>
      <p:sp>
        <p:nvSpPr>
          <p:cNvPr id="3" name="Text 0"/>
          <p:cNvSpPr/>
          <p:nvPr/>
        </p:nvSpPr>
        <p:spPr>
          <a:xfrm>
            <a:off x="685800" y="384048"/>
            <a:ext cx="10817352" cy="274320"/>
          </a:xfrm>
          <a:prstGeom prst="rect">
            <a:avLst/>
          </a:prstGeom>
          <a:noFill/>
          <a:ln/>
        </p:spPr>
        <p:txBody>
          <a:bodyPr wrap="square" rtlCol="0" anchor="ctr"/>
          <a:lstStyle/>
          <a:p>
            <a:pPr indent="0" marL="0">
              <a:buNone/>
            </a:pPr>
            <a:r>
              <a:rPr lang="en-US" sz="1300" b="1" spc="250" kern="0" dirty="0">
                <a:solidFill>
                  <a:srgbClr val="F2F3F5"/>
                </a:solidFill>
                <a:latin typeface="Arial" pitchFamily="34" charset="0"/>
                <a:ea typeface="Arial" pitchFamily="34" charset="-122"/>
                <a:cs typeface="Arial" pitchFamily="34" charset="-120"/>
              </a:rPr>
              <a:t>EL PROBLEMA</a:t>
            </a:r>
            <a:endParaRPr lang="en-US" sz="1300" dirty="0"/>
          </a:p>
        </p:txBody>
      </p:sp>
      <p:sp>
        <p:nvSpPr>
          <p:cNvPr id="4" name="Text 1"/>
          <p:cNvSpPr/>
          <p:nvPr/>
        </p:nvSpPr>
        <p:spPr>
          <a:xfrm>
            <a:off x="685800" y="685800"/>
            <a:ext cx="10817352" cy="274320"/>
          </a:xfrm>
          <a:prstGeom prst="rect">
            <a:avLst/>
          </a:prstGeom>
          <a:noFill/>
          <a:ln/>
        </p:spPr>
        <p:txBody>
          <a:bodyPr wrap="square" rtlCol="0" anchor="ctr"/>
          <a:lstStyle/>
          <a:p>
            <a:pPr indent="0" marL="0">
              <a:buNone/>
            </a:pPr>
            <a:r>
              <a:rPr lang="en-US" sz="1300" dirty="0">
                <a:solidFill>
                  <a:srgbClr val="8A93A6"/>
                </a:solidFill>
                <a:latin typeface="Arial" pitchFamily="34" charset="0"/>
                <a:ea typeface="Arial" pitchFamily="34" charset="-122"/>
                <a:cs typeface="Arial" pitchFamily="34" charset="-120"/>
              </a:rPr>
              <a:t>Una audiencia masiva. Cero participación.</a:t>
            </a:r>
            <a:endParaRPr lang="en-US" sz="1300" dirty="0"/>
          </a:p>
        </p:txBody>
      </p:sp>
      <p:sp>
        <p:nvSpPr>
          <p:cNvPr id="5" name="Shape 2"/>
          <p:cNvSpPr/>
          <p:nvPr/>
        </p:nvSpPr>
        <p:spPr>
          <a:xfrm>
            <a:off x="685800" y="1078992"/>
            <a:ext cx="10817352" cy="10973"/>
          </a:xfrm>
          <a:prstGeom prst="rect">
            <a:avLst/>
          </a:prstGeom>
          <a:solidFill>
            <a:srgbClr val="2A303C"/>
          </a:solidFill>
          <a:ln w="12700">
            <a:solidFill>
              <a:srgbClr val="333333"/>
            </a:solidFill>
            <a:prstDash val="solid"/>
          </a:ln>
        </p:spPr>
      </p:sp>
      <p:sp>
        <p:nvSpPr>
          <p:cNvPr id="6" name="Text 3"/>
          <p:cNvSpPr/>
          <p:nvPr/>
        </p:nvSpPr>
        <p:spPr>
          <a:xfrm>
            <a:off x="685800" y="1600200"/>
            <a:ext cx="3383280" cy="777240"/>
          </a:xfrm>
          <a:prstGeom prst="rect">
            <a:avLst/>
          </a:prstGeom>
          <a:noFill/>
          <a:ln/>
        </p:spPr>
        <p:txBody>
          <a:bodyPr wrap="square" rtlCol="0" anchor="ctr"/>
          <a:lstStyle/>
          <a:p>
            <a:pPr indent="0" marL="0">
              <a:buNone/>
            </a:pPr>
            <a:r>
              <a:rPr lang="en-US" sz="4000" b="1" dirty="0">
                <a:solidFill>
                  <a:srgbClr val="F2F3F5"/>
                </a:solidFill>
                <a:latin typeface="Arial" pitchFamily="34" charset="0"/>
                <a:ea typeface="Arial" pitchFamily="34" charset="-122"/>
                <a:cs typeface="Arial" pitchFamily="34" charset="-120"/>
              </a:rPr>
              <a:t>1,5 M</a:t>
            </a:r>
            <a:endParaRPr lang="en-US" sz="4000" dirty="0"/>
          </a:p>
        </p:txBody>
      </p:sp>
      <p:sp>
        <p:nvSpPr>
          <p:cNvPr id="7" name="Text 4"/>
          <p:cNvSpPr/>
          <p:nvPr/>
        </p:nvSpPr>
        <p:spPr>
          <a:xfrm>
            <a:off x="685800" y="2395728"/>
            <a:ext cx="3383280" cy="640080"/>
          </a:xfrm>
          <a:prstGeom prst="rect">
            <a:avLst/>
          </a:prstGeom>
          <a:noFill/>
          <a:ln/>
        </p:spPr>
        <p:txBody>
          <a:bodyPr wrap="square" rtlCol="0" anchor="ctr"/>
          <a:lstStyle/>
          <a:p>
            <a:pPr indent="0" marL="0">
              <a:lnSpc>
                <a:spcPts val="1700"/>
              </a:lnSpc>
              <a:buNone/>
            </a:pPr>
            <a:r>
              <a:rPr lang="en-US" sz="1250" dirty="0">
                <a:solidFill>
                  <a:srgbClr val="8A93A6"/>
                </a:solidFill>
                <a:latin typeface="Arial" pitchFamily="34" charset="0"/>
                <a:ea typeface="Arial" pitchFamily="34" charset="-122"/>
                <a:cs typeface="Arial" pitchFamily="34" charset="-120"/>
              </a:rPr>
              <a:t>suscriptores</a:t>
            </a:r>
            <a:endParaRPr lang="en-US" sz="1250" dirty="0"/>
          </a:p>
          <a:p>
            <a:pPr indent="0" marL="0">
              <a:lnSpc>
                <a:spcPts val="1700"/>
              </a:lnSpc>
              <a:buNone/>
            </a:pPr>
            <a:r>
              <a:rPr lang="en-US" sz="1250" dirty="0">
                <a:solidFill>
                  <a:srgbClr val="8A93A6"/>
                </a:solidFill>
                <a:latin typeface="Arial" pitchFamily="34" charset="0"/>
                <a:ea typeface="Arial" pitchFamily="34" charset="-122"/>
                <a:cs typeface="Arial" pitchFamily="34" charset="-120"/>
              </a:rPr>
              <a:t>en un solo canal</a:t>
            </a:r>
            <a:endParaRPr lang="en-US" sz="1250" dirty="0"/>
          </a:p>
        </p:txBody>
      </p:sp>
      <p:sp>
        <p:nvSpPr>
          <p:cNvPr id="8" name="Text 5"/>
          <p:cNvSpPr/>
          <p:nvPr/>
        </p:nvSpPr>
        <p:spPr>
          <a:xfrm>
            <a:off x="4325112" y="1600200"/>
            <a:ext cx="3383280" cy="777240"/>
          </a:xfrm>
          <a:prstGeom prst="rect">
            <a:avLst/>
          </a:prstGeom>
          <a:noFill/>
          <a:ln/>
        </p:spPr>
        <p:txBody>
          <a:bodyPr wrap="square" rtlCol="0" anchor="ctr"/>
          <a:lstStyle/>
          <a:p>
            <a:pPr indent="0" marL="0">
              <a:buNone/>
            </a:pPr>
            <a:r>
              <a:rPr lang="en-US" sz="4000" b="1" dirty="0">
                <a:solidFill>
                  <a:srgbClr val="F2F3F5"/>
                </a:solidFill>
                <a:latin typeface="Arial" pitchFamily="34" charset="0"/>
                <a:ea typeface="Arial" pitchFamily="34" charset="-122"/>
                <a:cs typeface="Arial" pitchFamily="34" charset="-120"/>
              </a:rPr>
              <a:t>200 M+</a:t>
            </a:r>
            <a:endParaRPr lang="en-US" sz="4000" dirty="0"/>
          </a:p>
        </p:txBody>
      </p:sp>
      <p:sp>
        <p:nvSpPr>
          <p:cNvPr id="9" name="Text 6"/>
          <p:cNvSpPr/>
          <p:nvPr/>
        </p:nvSpPr>
        <p:spPr>
          <a:xfrm>
            <a:off x="4325112" y="2395728"/>
            <a:ext cx="3383280" cy="640080"/>
          </a:xfrm>
          <a:prstGeom prst="rect">
            <a:avLst/>
          </a:prstGeom>
          <a:noFill/>
          <a:ln/>
        </p:spPr>
        <p:txBody>
          <a:bodyPr wrap="square" rtlCol="0" anchor="ctr"/>
          <a:lstStyle/>
          <a:p>
            <a:pPr indent="0" marL="0">
              <a:lnSpc>
                <a:spcPts val="1700"/>
              </a:lnSpc>
              <a:buNone/>
            </a:pPr>
            <a:r>
              <a:rPr lang="en-US" sz="1250" dirty="0">
                <a:solidFill>
                  <a:srgbClr val="8A93A6"/>
                </a:solidFill>
                <a:latin typeface="Arial" pitchFamily="34" charset="0"/>
                <a:ea typeface="Arial" pitchFamily="34" charset="-122"/>
                <a:cs typeface="Arial" pitchFamily="34" charset="-120"/>
              </a:rPr>
              <a:t>vistas acumuladas</a:t>
            </a:r>
            <a:endParaRPr lang="en-US" sz="1250" dirty="0"/>
          </a:p>
        </p:txBody>
      </p:sp>
      <p:sp>
        <p:nvSpPr>
          <p:cNvPr id="10" name="Text 7"/>
          <p:cNvSpPr/>
          <p:nvPr/>
        </p:nvSpPr>
        <p:spPr>
          <a:xfrm>
            <a:off x="7964424" y="1600200"/>
            <a:ext cx="3383280" cy="777240"/>
          </a:xfrm>
          <a:prstGeom prst="rect">
            <a:avLst/>
          </a:prstGeom>
          <a:noFill/>
          <a:ln/>
        </p:spPr>
        <p:txBody>
          <a:bodyPr wrap="square" rtlCol="0" anchor="ctr"/>
          <a:lstStyle/>
          <a:p>
            <a:pPr indent="0" marL="0">
              <a:buNone/>
            </a:pPr>
            <a:r>
              <a:rPr lang="en-US" sz="4000" b="1" dirty="0">
                <a:solidFill>
                  <a:srgbClr val="F2F3F5"/>
                </a:solidFill>
                <a:latin typeface="Arial" pitchFamily="34" charset="0"/>
                <a:ea typeface="Arial" pitchFamily="34" charset="-122"/>
                <a:cs typeface="Arial" pitchFamily="34" charset="-120"/>
              </a:rPr>
              <a:t>HBO · ESPN</a:t>
            </a:r>
            <a:endParaRPr lang="en-US" sz="4000" dirty="0"/>
          </a:p>
        </p:txBody>
      </p:sp>
      <p:sp>
        <p:nvSpPr>
          <p:cNvPr id="11" name="Text 8"/>
          <p:cNvSpPr/>
          <p:nvPr/>
        </p:nvSpPr>
        <p:spPr>
          <a:xfrm>
            <a:off x="7964424" y="2395728"/>
            <a:ext cx="3383280" cy="640080"/>
          </a:xfrm>
          <a:prstGeom prst="rect">
            <a:avLst/>
          </a:prstGeom>
          <a:noFill/>
          <a:ln/>
        </p:spPr>
        <p:txBody>
          <a:bodyPr wrap="square" rtlCol="0" anchor="ctr"/>
          <a:lstStyle/>
          <a:p>
            <a:pPr indent="0" marL="0">
              <a:lnSpc>
                <a:spcPts val="1700"/>
              </a:lnSpc>
              <a:buNone/>
            </a:pPr>
            <a:r>
              <a:rPr lang="en-US" sz="1250" dirty="0">
                <a:solidFill>
                  <a:srgbClr val="8A93A6"/>
                </a:solidFill>
                <a:latin typeface="Arial" pitchFamily="34" charset="0"/>
                <a:ea typeface="Arial" pitchFamily="34" charset="-122"/>
                <a:cs typeface="Arial" pitchFamily="34" charset="-120"/>
              </a:rPr>
              <a:t>las bolitas ya</a:t>
            </a:r>
            <a:endParaRPr lang="en-US" sz="1250" dirty="0"/>
          </a:p>
          <a:p>
            <a:pPr indent="0" marL="0">
              <a:lnSpc>
                <a:spcPts val="1700"/>
              </a:lnSpc>
              <a:buNone/>
            </a:pPr>
            <a:r>
              <a:rPr lang="en-US" sz="1250" dirty="0">
                <a:solidFill>
                  <a:srgbClr val="8A93A6"/>
                </a:solidFill>
                <a:latin typeface="Arial" pitchFamily="34" charset="0"/>
                <a:ea typeface="Arial" pitchFamily="34" charset="-122"/>
                <a:cs typeface="Arial" pitchFamily="34" charset="-120"/>
              </a:rPr>
              <a:t>llegaron a la TV</a:t>
            </a:r>
            <a:endParaRPr lang="en-US" sz="1250" dirty="0"/>
          </a:p>
        </p:txBody>
      </p:sp>
      <p:sp>
        <p:nvSpPr>
          <p:cNvPr id="12" name="Shape 9"/>
          <p:cNvSpPr/>
          <p:nvPr/>
        </p:nvSpPr>
        <p:spPr>
          <a:xfrm>
            <a:off x="685800" y="3520440"/>
            <a:ext cx="10817352" cy="1783080"/>
          </a:xfrm>
          <a:prstGeom prst="roundRect">
            <a:avLst>
              <a:gd name="adj" fmla="val 3077"/>
            </a:avLst>
          </a:prstGeom>
          <a:solidFill>
            <a:srgbClr val="161A22"/>
          </a:solidFill>
          <a:ln w="12700">
            <a:solidFill>
              <a:srgbClr val="2A303C"/>
            </a:solidFill>
            <a:prstDash val="solid"/>
          </a:ln>
        </p:spPr>
      </p:sp>
      <p:sp>
        <p:nvSpPr>
          <p:cNvPr id="13" name="Text 10"/>
          <p:cNvSpPr/>
          <p:nvPr/>
        </p:nvSpPr>
        <p:spPr>
          <a:xfrm>
            <a:off x="1097280" y="3749040"/>
            <a:ext cx="9994392" cy="411480"/>
          </a:xfrm>
          <a:prstGeom prst="rect">
            <a:avLst/>
          </a:prstGeom>
          <a:noFill/>
          <a:ln/>
        </p:spPr>
        <p:txBody>
          <a:bodyPr wrap="square" rtlCol="0" anchor="ctr"/>
          <a:lstStyle/>
          <a:p>
            <a:pPr indent="0" marL="0">
              <a:buNone/>
            </a:pPr>
            <a:r>
              <a:rPr lang="en-US" sz="2100" b="1" dirty="0">
                <a:solidFill>
                  <a:srgbClr val="FF6A2C"/>
                </a:solidFill>
                <a:latin typeface="Arial" pitchFamily="34" charset="0"/>
                <a:ea typeface="Arial" pitchFamily="34" charset="-122"/>
                <a:cs typeface="Arial" pitchFamily="34" charset="-120"/>
              </a:rPr>
              <a:t>Todo el mundo mira. Nadie participa.</a:t>
            </a:r>
            <a:endParaRPr lang="en-US" sz="2100" dirty="0"/>
          </a:p>
        </p:txBody>
      </p:sp>
      <p:sp>
        <p:nvSpPr>
          <p:cNvPr id="14" name="Text 11"/>
          <p:cNvSpPr/>
          <p:nvPr/>
        </p:nvSpPr>
        <p:spPr>
          <a:xfrm>
            <a:off x="1097280" y="4224528"/>
            <a:ext cx="9994392" cy="822960"/>
          </a:xfrm>
          <a:prstGeom prst="rect">
            <a:avLst/>
          </a:prstGeom>
          <a:noFill/>
          <a:ln/>
        </p:spPr>
        <p:txBody>
          <a:bodyPr wrap="square" rtlCol="0" anchor="ctr"/>
          <a:lstStyle/>
          <a:p>
            <a:pPr indent="0" marL="0">
              <a:lnSpc>
                <a:spcPts val="2400"/>
              </a:lnSpc>
              <a:buNone/>
            </a:pPr>
            <a:r>
              <a:rPr lang="en-US" sz="1400" dirty="0">
                <a:solidFill>
                  <a:srgbClr val="F2F3F5"/>
                </a:solidFill>
                <a:latin typeface="Arial" pitchFamily="34" charset="0"/>
                <a:ea typeface="Arial" pitchFamily="34" charset="-122"/>
                <a:cs typeface="Arial" pitchFamily="34" charset="-120"/>
              </a:rPr>
              <a:t>No podés tener una bolita.   ·   No podés competir con ella.   ·   No podés probar que el</a:t>
            </a:r>
            <a:endParaRPr lang="en-US" sz="1400" dirty="0"/>
          </a:p>
          <a:p>
            <a:pPr indent="0" marL="0">
              <a:lnSpc>
                <a:spcPts val="2400"/>
              </a:lnSpc>
              <a:buNone/>
            </a:pPr>
            <a:r>
              <a:rPr lang="en-US" sz="1400" dirty="0">
                <a:solidFill>
                  <a:srgbClr val="F2F3F5"/>
                </a:solidFill>
                <a:latin typeface="Arial" pitchFamily="34" charset="0"/>
                <a:ea typeface="Arial" pitchFamily="34" charset="-122"/>
                <a:cs typeface="Arial" pitchFamily="34" charset="-120"/>
              </a:rPr>
              <a:t>resultado no se armó en la edición, o que la física no está arreglada a favor de una.</a:t>
            </a:r>
            <a:endParaRPr lang="en-US" sz="1400" dirty="0"/>
          </a:p>
        </p:txBody>
      </p:sp>
      <p:sp>
        <p:nvSpPr>
          <p:cNvPr id="15" name="Text 12"/>
          <p:cNvSpPr/>
          <p:nvPr/>
        </p:nvSpPr>
        <p:spPr>
          <a:xfrm>
            <a:off x="685800" y="6053328"/>
            <a:ext cx="10817352" cy="256032"/>
          </a:xfrm>
          <a:prstGeom prst="rect">
            <a:avLst/>
          </a:prstGeom>
          <a:noFill/>
          <a:ln/>
        </p:spPr>
        <p:txBody>
          <a:bodyPr wrap="square" rtlCol="0" anchor="ctr"/>
          <a:lstStyle/>
          <a:p>
            <a:pPr algn="r" indent="0" marL="0">
              <a:buNone/>
            </a:pPr>
            <a:r>
              <a:rPr lang="en-US" sz="950" dirty="0">
                <a:solidFill>
                  <a:srgbClr val="8A93A6"/>
                </a:solidFill>
                <a:latin typeface="Arial" pitchFamily="34" charset="0"/>
                <a:ea typeface="Arial" pitchFamily="34" charset="-122"/>
                <a:cs typeface="Arial" pitchFamily="34" charset="-120"/>
              </a:rPr>
              <a:t>footage: Jelle's Marble Runs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2"/>
        </a:solidFill>
      </p:bgPr>
    </p:bg>
    <p:spTree>
      <p:nvGrpSpPr>
        <p:cNvPr id="1" name=""/>
        <p:cNvGrpSpPr/>
        <p:nvPr/>
      </p:nvGrpSpPr>
      <p:grpSpPr>
        <a:xfrm>
          <a:off x="0" y="0"/>
          <a:ext cx="0" cy="0"/>
          <a:chOff x="0" y="0"/>
          <a:chExt cx="0" cy="0"/>
        </a:xfrm>
      </p:grpSpPr>
      <p:sp>
        <p:nvSpPr>
          <p:cNvPr id="3" name="Text 0"/>
          <p:cNvSpPr/>
          <p:nvPr/>
        </p:nvSpPr>
        <p:spPr>
          <a:xfrm>
            <a:off x="685800" y="384048"/>
            <a:ext cx="10817352" cy="274320"/>
          </a:xfrm>
          <a:prstGeom prst="rect">
            <a:avLst/>
          </a:prstGeom>
          <a:noFill/>
          <a:ln/>
        </p:spPr>
        <p:txBody>
          <a:bodyPr wrap="square" rtlCol="0" anchor="ctr"/>
          <a:lstStyle/>
          <a:p>
            <a:pPr indent="0" marL="0">
              <a:buNone/>
            </a:pPr>
            <a:r>
              <a:rPr lang="en-US" sz="1300" b="1" spc="250" kern="0" dirty="0">
                <a:solidFill>
                  <a:srgbClr val="F2F3F5"/>
                </a:solidFill>
                <a:latin typeface="Arial" pitchFamily="34" charset="0"/>
                <a:ea typeface="Arial" pitchFamily="34" charset="-122"/>
                <a:cs typeface="Arial" pitchFamily="34" charset="-120"/>
              </a:rPr>
              <a:t>LA SOLUCIÓN</a:t>
            </a:r>
            <a:endParaRPr lang="en-US" sz="1300" dirty="0"/>
          </a:p>
        </p:txBody>
      </p:sp>
      <p:sp>
        <p:nvSpPr>
          <p:cNvPr id="4" name="Text 1"/>
          <p:cNvSpPr/>
          <p:nvPr/>
        </p:nvSpPr>
        <p:spPr>
          <a:xfrm>
            <a:off x="685800" y="685800"/>
            <a:ext cx="10817352" cy="274320"/>
          </a:xfrm>
          <a:prstGeom prst="rect">
            <a:avLst/>
          </a:prstGeom>
          <a:noFill/>
          <a:ln/>
        </p:spPr>
        <p:txBody>
          <a:bodyPr wrap="square" rtlCol="0" anchor="ctr"/>
          <a:lstStyle/>
          <a:p>
            <a:pPr indent="0" marL="0">
              <a:buNone/>
            </a:pPr>
            <a:r>
              <a:rPr lang="en-US" sz="1300" dirty="0">
                <a:solidFill>
                  <a:srgbClr val="8A93A6"/>
                </a:solidFill>
                <a:latin typeface="Arial" pitchFamily="34" charset="0"/>
                <a:ea typeface="Arial" pitchFamily="34" charset="-122"/>
                <a:cs typeface="Arial" pitchFamily="34" charset="-120"/>
              </a:rPr>
              <a:t>Qué construimos, en una frase.</a:t>
            </a:r>
            <a:endParaRPr lang="en-US" sz="1300" dirty="0"/>
          </a:p>
        </p:txBody>
      </p:sp>
      <p:sp>
        <p:nvSpPr>
          <p:cNvPr id="5" name="Shape 2"/>
          <p:cNvSpPr/>
          <p:nvPr/>
        </p:nvSpPr>
        <p:spPr>
          <a:xfrm>
            <a:off x="685800" y="1078992"/>
            <a:ext cx="10817352" cy="10973"/>
          </a:xfrm>
          <a:prstGeom prst="rect">
            <a:avLst/>
          </a:prstGeom>
          <a:solidFill>
            <a:srgbClr val="2A303C"/>
          </a:solidFill>
          <a:ln w="12700">
            <a:solidFill>
              <a:srgbClr val="333333"/>
            </a:solidFill>
            <a:prstDash val="solid"/>
          </a:ln>
        </p:spPr>
      </p:sp>
      <p:sp>
        <p:nvSpPr>
          <p:cNvPr id="6" name="Text 3"/>
          <p:cNvSpPr/>
          <p:nvPr/>
        </p:nvSpPr>
        <p:spPr>
          <a:xfrm>
            <a:off x="685800" y="1481328"/>
            <a:ext cx="10817352" cy="502920"/>
          </a:xfrm>
          <a:prstGeom prst="rect">
            <a:avLst/>
          </a:prstGeom>
          <a:noFill/>
          <a:ln/>
        </p:spPr>
        <p:txBody>
          <a:bodyPr wrap="square" rtlCol="0" anchor="ctr"/>
          <a:lstStyle/>
          <a:p>
            <a:pPr indent="0" marL="0">
              <a:buNone/>
            </a:pPr>
            <a:r>
              <a:rPr lang="en-US" sz="2700" b="1" dirty="0">
                <a:solidFill>
                  <a:srgbClr val="F2F3F5"/>
                </a:solidFill>
                <a:latin typeface="Arial" pitchFamily="34" charset="0"/>
                <a:ea typeface="Arial" pitchFamily="34" charset="-122"/>
                <a:cs typeface="Arial" pitchFamily="34" charset="-120"/>
              </a:rPr>
              <a:t>MARBLESS convierte esa audiencia pasiva en jugadores.</a:t>
            </a:r>
            <a:endParaRPr lang="en-US" sz="2700" dirty="0"/>
          </a:p>
        </p:txBody>
      </p:sp>
      <p:sp>
        <p:nvSpPr>
          <p:cNvPr id="7" name="Text 4"/>
          <p:cNvSpPr/>
          <p:nvPr/>
        </p:nvSpPr>
        <p:spPr>
          <a:xfrm>
            <a:off x="685800" y="2029968"/>
            <a:ext cx="10817352" cy="365760"/>
          </a:xfrm>
          <a:prstGeom prst="rect">
            <a:avLst/>
          </a:prstGeom>
          <a:noFill/>
          <a:ln/>
        </p:spPr>
        <p:txBody>
          <a:bodyPr wrap="square" rtlCol="0" anchor="ctr"/>
          <a:lstStyle/>
          <a:p>
            <a:pPr indent="0" marL="0">
              <a:buNone/>
            </a:pPr>
            <a:r>
              <a:rPr lang="en-US" sz="1600" dirty="0">
                <a:solidFill>
                  <a:srgbClr val="8A93A6"/>
                </a:solidFill>
                <a:latin typeface="Arial" pitchFamily="34" charset="0"/>
                <a:ea typeface="Arial" pitchFamily="34" charset="-122"/>
                <a:cs typeface="Arial" pitchFamily="34" charset="-120"/>
              </a:rPr>
              <a:t>Tenés tu bolita. Corrés con ella. El resultado </a:t>
            </a:r>
            <a:pPr indent="0" marL="0">
              <a:buNone/>
            </a:pPr>
            <a:r>
              <a:rPr lang="en-US" sz="1600" b="1" dirty="0">
                <a:solidFill>
                  <a:srgbClr val="FF6A2C"/>
                </a:solidFill>
                <a:latin typeface="Arial" pitchFamily="34" charset="0"/>
                <a:ea typeface="Arial" pitchFamily="34" charset="-122"/>
                <a:cs typeface="Arial" pitchFamily="34" charset="-120"/>
              </a:rPr>
              <a:t>lo firma la cadena</a:t>
            </a:r>
            <a:pPr indent="0" marL="0">
              <a:buNone/>
            </a:pPr>
            <a:r>
              <a:rPr lang="en-US" sz="1600" dirty="0">
                <a:solidFill>
                  <a:srgbClr val="8A93A6"/>
                </a:solidFill>
                <a:latin typeface="Arial" pitchFamily="34" charset="0"/>
                <a:ea typeface="Arial" pitchFamily="34" charset="-122"/>
                <a:cs typeface="Arial" pitchFamily="34" charset="-120"/>
              </a:rPr>
              <a:t> — no nosotros.</a:t>
            </a:r>
            <a:endParaRPr lang="en-US" sz="1600" dirty="0"/>
          </a:p>
        </p:txBody>
      </p:sp>
      <p:sp>
        <p:nvSpPr>
          <p:cNvPr id="8" name="Shape 5"/>
          <p:cNvSpPr/>
          <p:nvPr/>
        </p:nvSpPr>
        <p:spPr>
          <a:xfrm>
            <a:off x="685800" y="2880360"/>
            <a:ext cx="3383280" cy="2514600"/>
          </a:xfrm>
          <a:prstGeom prst="roundRect">
            <a:avLst>
              <a:gd name="adj" fmla="val 2182"/>
            </a:avLst>
          </a:prstGeom>
          <a:solidFill>
            <a:srgbClr val="161A22"/>
          </a:solidFill>
          <a:ln w="12700">
            <a:solidFill>
              <a:srgbClr val="2A303C"/>
            </a:solidFill>
            <a:prstDash val="solid"/>
          </a:ln>
        </p:spPr>
      </p:sp>
      <p:sp>
        <p:nvSpPr>
          <p:cNvPr id="9" name="Shape 6"/>
          <p:cNvSpPr/>
          <p:nvPr/>
        </p:nvSpPr>
        <p:spPr>
          <a:xfrm>
            <a:off x="1005840" y="3200400"/>
            <a:ext cx="457200" cy="45720"/>
          </a:xfrm>
          <a:prstGeom prst="rect">
            <a:avLst/>
          </a:prstGeom>
          <a:solidFill>
            <a:srgbClr val="FF6A2C"/>
          </a:solidFill>
          <a:ln w="12700">
            <a:solidFill>
              <a:srgbClr val="333333"/>
            </a:solidFill>
            <a:prstDash val="solid"/>
          </a:ln>
        </p:spPr>
      </p:sp>
      <p:sp>
        <p:nvSpPr>
          <p:cNvPr id="10" name="Text 7"/>
          <p:cNvSpPr/>
          <p:nvPr/>
        </p:nvSpPr>
        <p:spPr>
          <a:xfrm>
            <a:off x="1005840" y="3401568"/>
            <a:ext cx="2788920" cy="320040"/>
          </a:xfrm>
          <a:prstGeom prst="rect">
            <a:avLst/>
          </a:prstGeom>
          <a:noFill/>
          <a:ln/>
        </p:spPr>
        <p:txBody>
          <a:bodyPr wrap="square" rtlCol="0" anchor="ctr"/>
          <a:lstStyle/>
          <a:p>
            <a:pPr indent="0" marL="0">
              <a:buNone/>
            </a:pPr>
            <a:r>
              <a:rPr lang="en-US" sz="1250" b="1" spc="100" kern="0" dirty="0">
                <a:solidFill>
                  <a:srgbClr val="FF6A2C"/>
                </a:solidFill>
                <a:latin typeface="Arial" pitchFamily="34" charset="0"/>
                <a:ea typeface="Arial" pitchFamily="34" charset="-122"/>
                <a:cs typeface="Arial" pitchFamily="34" charset="-120"/>
              </a:rPr>
              <a:t>PROPIEDAD</a:t>
            </a:r>
            <a:endParaRPr lang="en-US" sz="1250" dirty="0"/>
          </a:p>
        </p:txBody>
      </p:sp>
      <p:sp>
        <p:nvSpPr>
          <p:cNvPr id="11" name="Text 8"/>
          <p:cNvSpPr/>
          <p:nvPr/>
        </p:nvSpPr>
        <p:spPr>
          <a:xfrm>
            <a:off x="1005840" y="3794760"/>
            <a:ext cx="2788920" cy="1463040"/>
          </a:xfrm>
          <a:prstGeom prst="rect">
            <a:avLst/>
          </a:prstGeom>
          <a:noFill/>
          <a:ln/>
        </p:spPr>
        <p:txBody>
          <a:bodyPr wrap="square" rtlCol="0" anchor="ctr"/>
          <a:lstStyle/>
          <a:p>
            <a:pPr indent="0" marL="0">
              <a:lnSpc>
                <a:spcPts val="1800"/>
              </a:lnSpc>
              <a:buNone/>
            </a:pPr>
            <a:r>
              <a:rPr lang="en-US" sz="1200" dirty="0">
                <a:solidFill>
                  <a:srgbClr val="F2F3F5"/>
                </a:solidFill>
                <a:latin typeface="Arial" pitchFamily="34" charset="0"/>
                <a:ea typeface="Arial" pitchFamily="34" charset="-122"/>
                <a:cs typeface="Arial" pitchFamily="34" charset="-120"/>
              </a:rPr>
              <a:t>Tu bolita es un NFT tuyo.</a:t>
            </a:r>
            <a:endParaRPr lang="en-US" sz="1200" dirty="0"/>
          </a:p>
          <a:p>
            <a:pPr indent="0" marL="0">
              <a:lnSpc>
                <a:spcPts val="1800"/>
              </a:lnSpc>
              <a:buNone/>
            </a:pPr>
            <a:r>
              <a:rPr lang="en-US" sz="1200" dirty="0">
                <a:solidFill>
                  <a:srgbClr val="F2F3F5"/>
                </a:solidFill>
                <a:latin typeface="Arial" pitchFamily="34" charset="0"/>
                <a:ea typeface="Arial" pitchFamily="34" charset="-122"/>
                <a:cs typeface="Arial" pitchFamily="34" charset="-120"/>
              </a:rPr>
              <a:t>La tenés, la coleccionás y</a:t>
            </a:r>
            <a:endParaRPr lang="en-US" sz="1200" dirty="0"/>
          </a:p>
          <a:p>
            <a:pPr indent="0" marL="0">
              <a:lnSpc>
                <a:spcPts val="1800"/>
              </a:lnSpc>
              <a:buNone/>
            </a:pPr>
            <a:r>
              <a:rPr lang="en-US" sz="1200" dirty="0">
                <a:solidFill>
                  <a:srgbClr val="F2F3F5"/>
                </a:solidFill>
                <a:latin typeface="Arial" pitchFamily="34" charset="0"/>
                <a:ea typeface="Arial" pitchFamily="34" charset="-122"/>
                <a:cs typeface="Arial" pitchFamily="34" charset="-120"/>
              </a:rPr>
              <a:t>competís con ella — no es</a:t>
            </a:r>
            <a:endParaRPr lang="en-US" sz="1200" dirty="0"/>
          </a:p>
          <a:p>
            <a:pPr indent="0" marL="0">
              <a:lnSpc>
                <a:spcPts val="1800"/>
              </a:lnSpc>
              <a:buNone/>
            </a:pPr>
            <a:r>
              <a:rPr lang="en-US" sz="1200" dirty="0">
                <a:solidFill>
                  <a:srgbClr val="F2F3F5"/>
                </a:solidFill>
                <a:latin typeface="Arial" pitchFamily="34" charset="0"/>
                <a:ea typeface="Arial" pitchFamily="34" charset="-122"/>
                <a:cs typeface="Arial" pitchFamily="34" charset="-120"/>
              </a:rPr>
              <a:t>un ítem en el servidor de otro.</a:t>
            </a:r>
            <a:endParaRPr lang="en-US" sz="1200" dirty="0"/>
          </a:p>
        </p:txBody>
      </p:sp>
      <p:sp>
        <p:nvSpPr>
          <p:cNvPr id="12" name="Shape 9"/>
          <p:cNvSpPr/>
          <p:nvPr/>
        </p:nvSpPr>
        <p:spPr>
          <a:xfrm>
            <a:off x="4325112" y="2880360"/>
            <a:ext cx="3383280" cy="2514600"/>
          </a:xfrm>
          <a:prstGeom prst="roundRect">
            <a:avLst>
              <a:gd name="adj" fmla="val 2182"/>
            </a:avLst>
          </a:prstGeom>
          <a:solidFill>
            <a:srgbClr val="161A22"/>
          </a:solidFill>
          <a:ln w="12700">
            <a:solidFill>
              <a:srgbClr val="2A303C"/>
            </a:solidFill>
            <a:prstDash val="solid"/>
          </a:ln>
        </p:spPr>
      </p:sp>
      <p:sp>
        <p:nvSpPr>
          <p:cNvPr id="13" name="Shape 10"/>
          <p:cNvSpPr/>
          <p:nvPr/>
        </p:nvSpPr>
        <p:spPr>
          <a:xfrm>
            <a:off x="4645152" y="3200400"/>
            <a:ext cx="457200" cy="45720"/>
          </a:xfrm>
          <a:prstGeom prst="rect">
            <a:avLst/>
          </a:prstGeom>
          <a:solidFill>
            <a:srgbClr val="2FE0E0"/>
          </a:solidFill>
          <a:ln w="12700">
            <a:solidFill>
              <a:srgbClr val="333333"/>
            </a:solidFill>
            <a:prstDash val="solid"/>
          </a:ln>
        </p:spPr>
      </p:sp>
      <p:sp>
        <p:nvSpPr>
          <p:cNvPr id="14" name="Text 11"/>
          <p:cNvSpPr/>
          <p:nvPr/>
        </p:nvSpPr>
        <p:spPr>
          <a:xfrm>
            <a:off x="4645152" y="3401568"/>
            <a:ext cx="2788920" cy="320040"/>
          </a:xfrm>
          <a:prstGeom prst="rect">
            <a:avLst/>
          </a:prstGeom>
          <a:noFill/>
          <a:ln/>
        </p:spPr>
        <p:txBody>
          <a:bodyPr wrap="square" rtlCol="0" anchor="ctr"/>
          <a:lstStyle/>
          <a:p>
            <a:pPr indent="0" marL="0">
              <a:buNone/>
            </a:pPr>
            <a:r>
              <a:rPr lang="en-US" sz="1250" b="1" spc="100" kern="0" dirty="0">
                <a:solidFill>
                  <a:srgbClr val="2FE0E0"/>
                </a:solidFill>
                <a:latin typeface="Arial" pitchFamily="34" charset="0"/>
                <a:ea typeface="Arial" pitchFamily="34" charset="-122"/>
                <a:cs typeface="Arial" pitchFamily="34" charset="-120"/>
              </a:rPr>
              <a:t>PARTICIPACIÓN</a:t>
            </a:r>
            <a:endParaRPr lang="en-US" sz="1250" dirty="0"/>
          </a:p>
        </p:txBody>
      </p:sp>
      <p:sp>
        <p:nvSpPr>
          <p:cNvPr id="15" name="Text 12"/>
          <p:cNvSpPr/>
          <p:nvPr/>
        </p:nvSpPr>
        <p:spPr>
          <a:xfrm>
            <a:off x="4645152" y="3794760"/>
            <a:ext cx="2788920" cy="1463040"/>
          </a:xfrm>
          <a:prstGeom prst="rect">
            <a:avLst/>
          </a:prstGeom>
          <a:noFill/>
          <a:ln/>
        </p:spPr>
        <p:txBody>
          <a:bodyPr wrap="square" rtlCol="0" anchor="ctr"/>
          <a:lstStyle/>
          <a:p>
            <a:pPr indent="0" marL="0">
              <a:lnSpc>
                <a:spcPts val="1800"/>
              </a:lnSpc>
              <a:buNone/>
            </a:pPr>
            <a:r>
              <a:rPr lang="en-US" sz="1200" dirty="0">
                <a:solidFill>
                  <a:srgbClr val="F2F3F5"/>
                </a:solidFill>
                <a:latin typeface="Arial" pitchFamily="34" charset="0"/>
                <a:ea typeface="Arial" pitchFamily="34" charset="-122"/>
                <a:cs typeface="Arial" pitchFamily="34" charset="-120"/>
              </a:rPr>
              <a:t>Entrás a la carrera con una</a:t>
            </a:r>
            <a:endParaRPr lang="en-US" sz="1200" dirty="0"/>
          </a:p>
          <a:p>
            <a:pPr indent="0" marL="0">
              <a:lnSpc>
                <a:spcPts val="1800"/>
              </a:lnSpc>
              <a:buNone/>
            </a:pPr>
            <a:r>
              <a:rPr lang="en-US" sz="1200" dirty="0">
                <a:solidFill>
                  <a:srgbClr val="F2F3F5"/>
                </a:solidFill>
                <a:latin typeface="Arial" pitchFamily="34" charset="0"/>
                <a:ea typeface="Arial" pitchFamily="34" charset="-122"/>
                <a:cs typeface="Arial" pitchFamily="34" charset="-120"/>
              </a:rPr>
              <a:t>sola acción y podés ganar.</a:t>
            </a:r>
            <a:endParaRPr lang="en-US" sz="1200" dirty="0"/>
          </a:p>
          <a:p>
            <a:pPr indent="0" marL="0">
              <a:lnSpc>
                <a:spcPts val="1800"/>
              </a:lnSpc>
              <a:buNone/>
            </a:pPr>
            <a:r>
              <a:rPr lang="en-US" sz="1200" dirty="0">
                <a:solidFill>
                  <a:srgbClr val="F2F3F5"/>
                </a:solidFill>
                <a:latin typeface="Arial" pitchFamily="34" charset="0"/>
                <a:ea typeface="Arial" pitchFamily="34" charset="-122"/>
                <a:cs typeface="Arial" pitchFamily="34" charset="-120"/>
              </a:rPr>
              <a:t>No mirás: jugás.</a:t>
            </a:r>
            <a:endParaRPr lang="en-US" sz="1200" dirty="0"/>
          </a:p>
        </p:txBody>
      </p:sp>
      <p:sp>
        <p:nvSpPr>
          <p:cNvPr id="16" name="Shape 13"/>
          <p:cNvSpPr/>
          <p:nvPr/>
        </p:nvSpPr>
        <p:spPr>
          <a:xfrm>
            <a:off x="7964424" y="2880360"/>
            <a:ext cx="3383280" cy="2514600"/>
          </a:xfrm>
          <a:prstGeom prst="roundRect">
            <a:avLst>
              <a:gd name="adj" fmla="val 2182"/>
            </a:avLst>
          </a:prstGeom>
          <a:solidFill>
            <a:srgbClr val="161A22"/>
          </a:solidFill>
          <a:ln w="12700">
            <a:solidFill>
              <a:srgbClr val="2A303C"/>
            </a:solidFill>
            <a:prstDash val="solid"/>
          </a:ln>
        </p:spPr>
      </p:sp>
      <p:sp>
        <p:nvSpPr>
          <p:cNvPr id="17" name="Shape 14"/>
          <p:cNvSpPr/>
          <p:nvPr/>
        </p:nvSpPr>
        <p:spPr>
          <a:xfrm>
            <a:off x="8284464" y="3200400"/>
            <a:ext cx="457200" cy="45720"/>
          </a:xfrm>
          <a:prstGeom prst="rect">
            <a:avLst/>
          </a:prstGeom>
          <a:solidFill>
            <a:srgbClr val="44DC8A"/>
          </a:solidFill>
          <a:ln w="12700">
            <a:solidFill>
              <a:srgbClr val="333333"/>
            </a:solidFill>
            <a:prstDash val="solid"/>
          </a:ln>
        </p:spPr>
      </p:sp>
      <p:sp>
        <p:nvSpPr>
          <p:cNvPr id="18" name="Text 15"/>
          <p:cNvSpPr/>
          <p:nvPr/>
        </p:nvSpPr>
        <p:spPr>
          <a:xfrm>
            <a:off x="8284464" y="3401568"/>
            <a:ext cx="2788920" cy="320040"/>
          </a:xfrm>
          <a:prstGeom prst="rect">
            <a:avLst/>
          </a:prstGeom>
          <a:noFill/>
          <a:ln/>
        </p:spPr>
        <p:txBody>
          <a:bodyPr wrap="square" rtlCol="0" anchor="ctr"/>
          <a:lstStyle/>
          <a:p>
            <a:pPr indent="0" marL="0">
              <a:buNone/>
            </a:pPr>
            <a:r>
              <a:rPr lang="en-US" sz="1250" b="1" spc="100" kern="0" dirty="0">
                <a:solidFill>
                  <a:srgbClr val="44DC8A"/>
                </a:solidFill>
                <a:latin typeface="Arial" pitchFamily="34" charset="0"/>
                <a:ea typeface="Arial" pitchFamily="34" charset="-122"/>
                <a:cs typeface="Arial" pitchFamily="34" charset="-120"/>
              </a:rPr>
              <a:t>JUSTICIA DEMOSTRABLE</a:t>
            </a:r>
            <a:endParaRPr lang="en-US" sz="1250" dirty="0"/>
          </a:p>
        </p:txBody>
      </p:sp>
      <p:sp>
        <p:nvSpPr>
          <p:cNvPr id="19" name="Text 16"/>
          <p:cNvSpPr/>
          <p:nvPr/>
        </p:nvSpPr>
        <p:spPr>
          <a:xfrm>
            <a:off x="8284464" y="3794760"/>
            <a:ext cx="2788920" cy="1463040"/>
          </a:xfrm>
          <a:prstGeom prst="rect">
            <a:avLst/>
          </a:prstGeom>
          <a:noFill/>
          <a:ln/>
        </p:spPr>
        <p:txBody>
          <a:bodyPr wrap="square" rtlCol="0" anchor="ctr"/>
          <a:lstStyle/>
          <a:p>
            <a:pPr indent="0" marL="0">
              <a:lnSpc>
                <a:spcPts val="1800"/>
              </a:lnSpc>
              <a:buNone/>
            </a:pPr>
            <a:r>
              <a:rPr lang="en-US" sz="1200" dirty="0">
                <a:solidFill>
                  <a:srgbClr val="F2F3F5"/>
                </a:solidFill>
                <a:latin typeface="Arial" pitchFamily="34" charset="0"/>
                <a:ea typeface="Arial" pitchFamily="34" charset="-122"/>
                <a:cs typeface="Arial" pitchFamily="34" charset="-120"/>
              </a:rPr>
              <a:t>Chainlink VRF elige al ganador</a:t>
            </a:r>
            <a:endParaRPr lang="en-US" sz="1200" dirty="0"/>
          </a:p>
          <a:p>
            <a:pPr indent="0" marL="0">
              <a:lnSpc>
                <a:spcPts val="1800"/>
              </a:lnSpc>
              <a:buNone/>
            </a:pPr>
            <a:r>
              <a:rPr lang="en-US" sz="1200" dirty="0">
                <a:solidFill>
                  <a:srgbClr val="F2F3F5"/>
                </a:solidFill>
                <a:latin typeface="Arial" pitchFamily="34" charset="0"/>
                <a:ea typeface="Arial" pitchFamily="34" charset="-122"/>
                <a:cs typeface="Arial" pitchFamily="34" charset="-120"/>
              </a:rPr>
              <a:t>con prueba criptográfica.</a:t>
            </a:r>
            <a:endParaRPr lang="en-US" sz="1200" dirty="0"/>
          </a:p>
          <a:p>
            <a:pPr indent="0" marL="0">
              <a:lnSpc>
                <a:spcPts val="1800"/>
              </a:lnSpc>
              <a:buNone/>
            </a:pPr>
            <a:r>
              <a:rPr lang="en-US" sz="1200" dirty="0">
                <a:solidFill>
                  <a:srgbClr val="F2F3F5"/>
                </a:solidFill>
                <a:latin typeface="Arial" pitchFamily="34" charset="0"/>
                <a:ea typeface="Arial" pitchFamily="34" charset="-122"/>
                <a:cs typeface="Arial" pitchFamily="34" charset="-120"/>
              </a:rPr>
              <a:t>Cualquiera lo verifica.</a:t>
            </a:r>
            <a:endParaRPr lang="en-US" sz="1200" dirty="0"/>
          </a:p>
          <a:p>
            <a:pPr indent="0" marL="0">
              <a:lnSpc>
                <a:spcPts val="1800"/>
              </a:lnSpc>
              <a:buNone/>
            </a:pPr>
            <a:r>
              <a:rPr lang="en-US" sz="1200" dirty="0">
                <a:solidFill>
                  <a:srgbClr val="F2F3F5"/>
                </a:solidFill>
                <a:latin typeface="Arial" pitchFamily="34" charset="0"/>
                <a:ea typeface="Arial" pitchFamily="34" charset="-122"/>
                <a:cs typeface="Arial" pitchFamily="34" charset="-120"/>
              </a:rPr>
              <a:t>Nadie confía en nosotros.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2"/>
        </a:solidFill>
      </p:bgPr>
    </p:bg>
    <p:spTree>
      <p:nvGrpSpPr>
        <p:cNvPr id="1" name=""/>
        <p:cNvGrpSpPr/>
        <p:nvPr/>
      </p:nvGrpSpPr>
      <p:grpSpPr>
        <a:xfrm>
          <a:off x="0" y="0"/>
          <a:ext cx="0" cy="0"/>
          <a:chOff x="0" y="0"/>
          <a:chExt cx="0" cy="0"/>
        </a:xfrm>
      </p:grpSpPr>
      <p:sp>
        <p:nvSpPr>
          <p:cNvPr id="3" name="Text 0"/>
          <p:cNvSpPr/>
          <p:nvPr/>
        </p:nvSpPr>
        <p:spPr>
          <a:xfrm>
            <a:off x="685800" y="384048"/>
            <a:ext cx="10817352" cy="274320"/>
          </a:xfrm>
          <a:prstGeom prst="rect">
            <a:avLst/>
          </a:prstGeom>
          <a:noFill/>
          <a:ln/>
        </p:spPr>
        <p:txBody>
          <a:bodyPr wrap="square" rtlCol="0" anchor="ctr"/>
          <a:lstStyle/>
          <a:p>
            <a:pPr indent="0" marL="0">
              <a:buNone/>
            </a:pPr>
            <a:r>
              <a:rPr lang="en-US" sz="1300" b="1" spc="250" kern="0" dirty="0">
                <a:solidFill>
                  <a:srgbClr val="F2F3F5"/>
                </a:solidFill>
                <a:latin typeface="Arial" pitchFamily="34" charset="0"/>
                <a:ea typeface="Arial" pitchFamily="34" charset="-122"/>
                <a:cs typeface="Arial" pitchFamily="34" charset="-120"/>
              </a:rPr>
              <a:t>CÓMO FUNCIONA</a:t>
            </a:r>
            <a:endParaRPr lang="en-US" sz="1300" dirty="0"/>
          </a:p>
        </p:txBody>
      </p:sp>
      <p:sp>
        <p:nvSpPr>
          <p:cNvPr id="4" name="Text 1"/>
          <p:cNvSpPr/>
          <p:nvPr/>
        </p:nvSpPr>
        <p:spPr>
          <a:xfrm>
            <a:off x="685800" y="685800"/>
            <a:ext cx="10817352" cy="274320"/>
          </a:xfrm>
          <a:prstGeom prst="rect">
            <a:avLst/>
          </a:prstGeom>
          <a:noFill/>
          <a:ln/>
        </p:spPr>
        <p:txBody>
          <a:bodyPr wrap="square" rtlCol="0" anchor="ctr"/>
          <a:lstStyle/>
          <a:p>
            <a:pPr indent="0" marL="0">
              <a:buNone/>
            </a:pPr>
            <a:r>
              <a:rPr lang="en-US" sz="1300" dirty="0">
                <a:solidFill>
                  <a:srgbClr val="8A93A6"/>
                </a:solidFill>
                <a:latin typeface="Arial" pitchFamily="34" charset="0"/>
                <a:ea typeface="Arial" pitchFamily="34" charset="-122"/>
                <a:cs typeface="Arial" pitchFamily="34" charset="-120"/>
              </a:rPr>
              <a:t>Un loop cerrado, verificable de punta a punta.</a:t>
            </a:r>
            <a:endParaRPr lang="en-US" sz="1300" dirty="0"/>
          </a:p>
        </p:txBody>
      </p:sp>
      <p:sp>
        <p:nvSpPr>
          <p:cNvPr id="5" name="Shape 2"/>
          <p:cNvSpPr/>
          <p:nvPr/>
        </p:nvSpPr>
        <p:spPr>
          <a:xfrm>
            <a:off x="685800" y="1078992"/>
            <a:ext cx="10817352" cy="10973"/>
          </a:xfrm>
          <a:prstGeom prst="rect">
            <a:avLst/>
          </a:prstGeom>
          <a:solidFill>
            <a:srgbClr val="2A303C"/>
          </a:solidFill>
          <a:ln w="12700">
            <a:solidFill>
              <a:srgbClr val="333333"/>
            </a:solidFill>
            <a:prstDash val="solid"/>
          </a:ln>
        </p:spPr>
      </p:sp>
      <p:sp>
        <p:nvSpPr>
          <p:cNvPr id="6" name="Shape 3"/>
          <p:cNvSpPr/>
          <p:nvPr/>
        </p:nvSpPr>
        <p:spPr>
          <a:xfrm>
            <a:off x="685800" y="1417320"/>
            <a:ext cx="1965960" cy="914400"/>
          </a:xfrm>
          <a:prstGeom prst="roundRect">
            <a:avLst>
              <a:gd name="adj" fmla="val 6000"/>
            </a:avLst>
          </a:prstGeom>
          <a:solidFill>
            <a:srgbClr val="161A22"/>
          </a:solidFill>
          <a:ln w="12700">
            <a:solidFill>
              <a:srgbClr val="2A303C"/>
            </a:solidFill>
            <a:prstDash val="solid"/>
          </a:ln>
        </p:spPr>
      </p:sp>
      <p:sp>
        <p:nvSpPr>
          <p:cNvPr id="7" name="Text 4"/>
          <p:cNvSpPr/>
          <p:nvPr/>
        </p:nvSpPr>
        <p:spPr>
          <a:xfrm>
            <a:off x="850392" y="1536192"/>
            <a:ext cx="274320" cy="228600"/>
          </a:xfrm>
          <a:prstGeom prst="rect">
            <a:avLst/>
          </a:prstGeom>
          <a:noFill/>
          <a:ln/>
        </p:spPr>
        <p:txBody>
          <a:bodyPr wrap="square" rtlCol="0" anchor="ctr"/>
          <a:lstStyle/>
          <a:p>
            <a:pPr indent="0" marL="0">
              <a:buNone/>
            </a:pPr>
            <a:r>
              <a:rPr lang="en-US" sz="1000" b="1" dirty="0">
                <a:solidFill>
                  <a:srgbClr val="FF6A2C"/>
                </a:solidFill>
                <a:latin typeface="Arial" pitchFamily="34" charset="0"/>
                <a:ea typeface="Arial" pitchFamily="34" charset="-122"/>
                <a:cs typeface="Arial" pitchFamily="34" charset="-120"/>
              </a:rPr>
              <a:t>1</a:t>
            </a:r>
            <a:endParaRPr lang="en-US" sz="1000" dirty="0"/>
          </a:p>
        </p:txBody>
      </p:sp>
      <p:sp>
        <p:nvSpPr>
          <p:cNvPr id="8" name="Text 5"/>
          <p:cNvSpPr/>
          <p:nvPr/>
        </p:nvSpPr>
        <p:spPr>
          <a:xfrm>
            <a:off x="850392" y="1737360"/>
            <a:ext cx="1645920" cy="274320"/>
          </a:xfrm>
          <a:prstGeom prst="rect">
            <a:avLst/>
          </a:prstGeom>
          <a:noFill/>
          <a:ln/>
        </p:spPr>
        <p:txBody>
          <a:bodyPr wrap="square" rtlCol="0" anchor="ctr"/>
          <a:lstStyle/>
          <a:p>
            <a:pPr indent="0" marL="0">
              <a:buNone/>
            </a:pPr>
            <a:r>
              <a:rPr lang="en-US" sz="1450" b="1" dirty="0">
                <a:solidFill>
                  <a:srgbClr val="F2F3F5"/>
                </a:solidFill>
                <a:latin typeface="Arial" pitchFamily="34" charset="0"/>
                <a:ea typeface="Arial" pitchFamily="34" charset="-122"/>
                <a:cs typeface="Arial" pitchFamily="34" charset="-120"/>
              </a:rPr>
              <a:t>Minteás</a:t>
            </a:r>
            <a:endParaRPr lang="en-US" sz="1450" dirty="0"/>
          </a:p>
        </p:txBody>
      </p:sp>
      <p:sp>
        <p:nvSpPr>
          <p:cNvPr id="9" name="Text 6"/>
          <p:cNvSpPr/>
          <p:nvPr/>
        </p:nvSpPr>
        <p:spPr>
          <a:xfrm>
            <a:off x="850392" y="1993392"/>
            <a:ext cx="1691640" cy="256032"/>
          </a:xfrm>
          <a:prstGeom prst="rect">
            <a:avLst/>
          </a:prstGeom>
          <a:noFill/>
          <a:ln/>
        </p:spPr>
        <p:txBody>
          <a:bodyPr wrap="square" rtlCol="0" anchor="ctr"/>
          <a:lstStyle/>
          <a:p>
            <a:pPr indent="0" marL="0">
              <a:buNone/>
            </a:pPr>
            <a:r>
              <a:rPr lang="en-US" sz="1050" dirty="0">
                <a:solidFill>
                  <a:srgbClr val="8A93A6"/>
                </a:solidFill>
                <a:latin typeface="Arial" pitchFamily="34" charset="0"/>
                <a:ea typeface="Arial" pitchFamily="34" charset="-122"/>
                <a:cs typeface="Arial" pitchFamily="34" charset="-120"/>
              </a:rPr>
              <a:t>tu bolita (NFT)</a:t>
            </a:r>
            <a:endParaRPr lang="en-US" sz="1050" dirty="0"/>
          </a:p>
        </p:txBody>
      </p:sp>
      <p:sp>
        <p:nvSpPr>
          <p:cNvPr id="10" name="Text 7"/>
          <p:cNvSpPr/>
          <p:nvPr/>
        </p:nvSpPr>
        <p:spPr>
          <a:xfrm>
            <a:off x="2651760" y="1417320"/>
            <a:ext cx="246888" cy="914400"/>
          </a:xfrm>
          <a:prstGeom prst="rect">
            <a:avLst/>
          </a:prstGeom>
          <a:noFill/>
          <a:ln/>
        </p:spPr>
        <p:txBody>
          <a:bodyPr wrap="square" rtlCol="0" anchor="ctr"/>
          <a:lstStyle/>
          <a:p>
            <a:pPr algn="ctr" indent="0" marL="0">
              <a:buNone/>
            </a:pPr>
            <a:r>
              <a:rPr lang="en-US" sz="1700" dirty="0">
                <a:solidFill>
                  <a:srgbClr val="2A303C"/>
                </a:solidFill>
                <a:latin typeface="Arial" pitchFamily="34" charset="0"/>
                <a:ea typeface="Arial" pitchFamily="34" charset="-122"/>
                <a:cs typeface="Arial" pitchFamily="34" charset="-120"/>
              </a:rPr>
              <a:t>›</a:t>
            </a:r>
            <a:endParaRPr lang="en-US" sz="1700" dirty="0"/>
          </a:p>
        </p:txBody>
      </p:sp>
      <p:sp>
        <p:nvSpPr>
          <p:cNvPr id="11" name="Shape 8"/>
          <p:cNvSpPr/>
          <p:nvPr/>
        </p:nvSpPr>
        <p:spPr>
          <a:xfrm>
            <a:off x="2898648" y="1417320"/>
            <a:ext cx="1965960" cy="914400"/>
          </a:xfrm>
          <a:prstGeom prst="roundRect">
            <a:avLst>
              <a:gd name="adj" fmla="val 6000"/>
            </a:avLst>
          </a:prstGeom>
          <a:solidFill>
            <a:srgbClr val="161A22"/>
          </a:solidFill>
          <a:ln w="12700">
            <a:solidFill>
              <a:srgbClr val="2A303C"/>
            </a:solidFill>
            <a:prstDash val="solid"/>
          </a:ln>
        </p:spPr>
      </p:sp>
      <p:sp>
        <p:nvSpPr>
          <p:cNvPr id="12" name="Text 9"/>
          <p:cNvSpPr/>
          <p:nvPr/>
        </p:nvSpPr>
        <p:spPr>
          <a:xfrm>
            <a:off x="3063240" y="1536192"/>
            <a:ext cx="274320" cy="228600"/>
          </a:xfrm>
          <a:prstGeom prst="rect">
            <a:avLst/>
          </a:prstGeom>
          <a:noFill/>
          <a:ln/>
        </p:spPr>
        <p:txBody>
          <a:bodyPr wrap="square" rtlCol="0" anchor="ctr"/>
          <a:lstStyle/>
          <a:p>
            <a:pPr indent="0" marL="0">
              <a:buNone/>
            </a:pPr>
            <a:r>
              <a:rPr lang="en-US" sz="1000" b="1" dirty="0">
                <a:solidFill>
                  <a:srgbClr val="FF6A2C"/>
                </a:solidFill>
                <a:latin typeface="Arial" pitchFamily="34" charset="0"/>
                <a:ea typeface="Arial" pitchFamily="34" charset="-122"/>
                <a:cs typeface="Arial" pitchFamily="34" charset="-120"/>
              </a:rPr>
              <a:t>2</a:t>
            </a:r>
            <a:endParaRPr lang="en-US" sz="1000" dirty="0"/>
          </a:p>
        </p:txBody>
      </p:sp>
      <p:sp>
        <p:nvSpPr>
          <p:cNvPr id="13" name="Text 10"/>
          <p:cNvSpPr/>
          <p:nvPr/>
        </p:nvSpPr>
        <p:spPr>
          <a:xfrm>
            <a:off x="3063240" y="1737360"/>
            <a:ext cx="1645920" cy="274320"/>
          </a:xfrm>
          <a:prstGeom prst="rect">
            <a:avLst/>
          </a:prstGeom>
          <a:noFill/>
          <a:ln/>
        </p:spPr>
        <p:txBody>
          <a:bodyPr wrap="square" rtlCol="0" anchor="ctr"/>
          <a:lstStyle/>
          <a:p>
            <a:pPr indent="0" marL="0">
              <a:buNone/>
            </a:pPr>
            <a:r>
              <a:rPr lang="en-US" sz="1450" b="1" dirty="0">
                <a:solidFill>
                  <a:srgbClr val="F2F3F5"/>
                </a:solidFill>
                <a:latin typeface="Arial" pitchFamily="34" charset="0"/>
                <a:ea typeface="Arial" pitchFamily="34" charset="-122"/>
                <a:cs typeface="Arial" pitchFamily="34" charset="-120"/>
              </a:rPr>
              <a:t>Acumulás</a:t>
            </a:r>
            <a:endParaRPr lang="en-US" sz="1450" dirty="0"/>
          </a:p>
        </p:txBody>
      </p:sp>
      <p:sp>
        <p:nvSpPr>
          <p:cNvPr id="14" name="Text 11"/>
          <p:cNvSpPr/>
          <p:nvPr/>
        </p:nvSpPr>
        <p:spPr>
          <a:xfrm>
            <a:off x="3063240" y="1993392"/>
            <a:ext cx="1691640" cy="256032"/>
          </a:xfrm>
          <a:prstGeom prst="rect">
            <a:avLst/>
          </a:prstGeom>
          <a:noFill/>
          <a:ln/>
        </p:spPr>
        <p:txBody>
          <a:bodyPr wrap="square" rtlCol="0" anchor="ctr"/>
          <a:lstStyle/>
          <a:p>
            <a:pPr indent="0" marL="0">
              <a:buNone/>
            </a:pPr>
            <a:r>
              <a:rPr lang="en-US" sz="1050" dirty="0">
                <a:solidFill>
                  <a:srgbClr val="8A93A6"/>
                </a:solidFill>
                <a:latin typeface="Arial" pitchFamily="34" charset="0"/>
                <a:ea typeface="Arial" pitchFamily="34" charset="-122"/>
                <a:cs typeface="Arial" pitchFamily="34" charset="-120"/>
              </a:rPr>
              <a:t>crédito MRBL</a:t>
            </a:r>
            <a:endParaRPr lang="en-US" sz="1050" dirty="0"/>
          </a:p>
        </p:txBody>
      </p:sp>
      <p:sp>
        <p:nvSpPr>
          <p:cNvPr id="15" name="Text 12"/>
          <p:cNvSpPr/>
          <p:nvPr/>
        </p:nvSpPr>
        <p:spPr>
          <a:xfrm>
            <a:off x="4864608" y="1417320"/>
            <a:ext cx="246888" cy="914400"/>
          </a:xfrm>
          <a:prstGeom prst="rect">
            <a:avLst/>
          </a:prstGeom>
          <a:noFill/>
          <a:ln/>
        </p:spPr>
        <p:txBody>
          <a:bodyPr wrap="square" rtlCol="0" anchor="ctr"/>
          <a:lstStyle/>
          <a:p>
            <a:pPr algn="ctr" indent="0" marL="0">
              <a:buNone/>
            </a:pPr>
            <a:r>
              <a:rPr lang="en-US" sz="1700" dirty="0">
                <a:solidFill>
                  <a:srgbClr val="2A303C"/>
                </a:solidFill>
                <a:latin typeface="Arial" pitchFamily="34" charset="0"/>
                <a:ea typeface="Arial" pitchFamily="34" charset="-122"/>
                <a:cs typeface="Arial" pitchFamily="34" charset="-120"/>
              </a:rPr>
              <a:t>›</a:t>
            </a:r>
            <a:endParaRPr lang="en-US" sz="1700" dirty="0"/>
          </a:p>
        </p:txBody>
      </p:sp>
      <p:sp>
        <p:nvSpPr>
          <p:cNvPr id="16" name="Shape 13"/>
          <p:cNvSpPr/>
          <p:nvPr/>
        </p:nvSpPr>
        <p:spPr>
          <a:xfrm>
            <a:off x="5111496" y="1417320"/>
            <a:ext cx="1965960" cy="914400"/>
          </a:xfrm>
          <a:prstGeom prst="roundRect">
            <a:avLst>
              <a:gd name="adj" fmla="val 6000"/>
            </a:avLst>
          </a:prstGeom>
          <a:solidFill>
            <a:srgbClr val="161A22"/>
          </a:solidFill>
          <a:ln w="12700">
            <a:solidFill>
              <a:srgbClr val="2A303C"/>
            </a:solidFill>
            <a:prstDash val="solid"/>
          </a:ln>
        </p:spPr>
      </p:sp>
      <p:sp>
        <p:nvSpPr>
          <p:cNvPr id="17" name="Text 14"/>
          <p:cNvSpPr/>
          <p:nvPr/>
        </p:nvSpPr>
        <p:spPr>
          <a:xfrm>
            <a:off x="5276088" y="1536192"/>
            <a:ext cx="274320" cy="228600"/>
          </a:xfrm>
          <a:prstGeom prst="rect">
            <a:avLst/>
          </a:prstGeom>
          <a:noFill/>
          <a:ln/>
        </p:spPr>
        <p:txBody>
          <a:bodyPr wrap="square" rtlCol="0" anchor="ctr"/>
          <a:lstStyle/>
          <a:p>
            <a:pPr indent="0" marL="0">
              <a:buNone/>
            </a:pPr>
            <a:r>
              <a:rPr lang="en-US" sz="1000" b="1" dirty="0">
                <a:solidFill>
                  <a:srgbClr val="FF6A2C"/>
                </a:solidFill>
                <a:latin typeface="Arial" pitchFamily="34" charset="0"/>
                <a:ea typeface="Arial" pitchFamily="34" charset="-122"/>
                <a:cs typeface="Arial" pitchFamily="34" charset="-120"/>
              </a:rPr>
              <a:t>3</a:t>
            </a:r>
            <a:endParaRPr lang="en-US" sz="1000" dirty="0"/>
          </a:p>
        </p:txBody>
      </p:sp>
      <p:sp>
        <p:nvSpPr>
          <p:cNvPr id="18" name="Text 15"/>
          <p:cNvSpPr/>
          <p:nvPr/>
        </p:nvSpPr>
        <p:spPr>
          <a:xfrm>
            <a:off x="5276088" y="1737360"/>
            <a:ext cx="1645920" cy="274320"/>
          </a:xfrm>
          <a:prstGeom prst="rect">
            <a:avLst/>
          </a:prstGeom>
          <a:noFill/>
          <a:ln/>
        </p:spPr>
        <p:txBody>
          <a:bodyPr wrap="square" rtlCol="0" anchor="ctr"/>
          <a:lstStyle/>
          <a:p>
            <a:pPr indent="0" marL="0">
              <a:buNone/>
            </a:pPr>
            <a:r>
              <a:rPr lang="en-US" sz="1450" b="1" dirty="0">
                <a:solidFill>
                  <a:srgbClr val="F2F3F5"/>
                </a:solidFill>
                <a:latin typeface="Arial" pitchFamily="34" charset="0"/>
                <a:ea typeface="Arial" pitchFamily="34" charset="-122"/>
                <a:cs typeface="Arial" pitchFamily="34" charset="-120"/>
              </a:rPr>
              <a:t>Entrás</a:t>
            </a:r>
            <a:endParaRPr lang="en-US" sz="1450" dirty="0"/>
          </a:p>
        </p:txBody>
      </p:sp>
      <p:sp>
        <p:nvSpPr>
          <p:cNvPr id="19" name="Text 16"/>
          <p:cNvSpPr/>
          <p:nvPr/>
        </p:nvSpPr>
        <p:spPr>
          <a:xfrm>
            <a:off x="5276088" y="1993392"/>
            <a:ext cx="1691640" cy="256032"/>
          </a:xfrm>
          <a:prstGeom prst="rect">
            <a:avLst/>
          </a:prstGeom>
          <a:noFill/>
          <a:ln/>
        </p:spPr>
        <p:txBody>
          <a:bodyPr wrap="square" rtlCol="0" anchor="ctr"/>
          <a:lstStyle/>
          <a:p>
            <a:pPr indent="0" marL="0">
              <a:buNone/>
            </a:pPr>
            <a:r>
              <a:rPr lang="en-US" sz="1050" dirty="0">
                <a:solidFill>
                  <a:srgbClr val="8A93A6"/>
                </a:solidFill>
                <a:latin typeface="Arial" pitchFamily="34" charset="0"/>
                <a:ea typeface="Arial" pitchFamily="34" charset="-122"/>
                <a:cs typeface="Arial" pitchFamily="34" charset="-120"/>
              </a:rPr>
              <a:t>1 sola acción</a:t>
            </a:r>
            <a:endParaRPr lang="en-US" sz="1050" dirty="0"/>
          </a:p>
        </p:txBody>
      </p:sp>
      <p:sp>
        <p:nvSpPr>
          <p:cNvPr id="20" name="Text 17"/>
          <p:cNvSpPr/>
          <p:nvPr/>
        </p:nvSpPr>
        <p:spPr>
          <a:xfrm>
            <a:off x="7077456" y="1417320"/>
            <a:ext cx="246888" cy="914400"/>
          </a:xfrm>
          <a:prstGeom prst="rect">
            <a:avLst/>
          </a:prstGeom>
          <a:noFill/>
          <a:ln/>
        </p:spPr>
        <p:txBody>
          <a:bodyPr wrap="square" rtlCol="0" anchor="ctr"/>
          <a:lstStyle/>
          <a:p>
            <a:pPr algn="ctr" indent="0" marL="0">
              <a:buNone/>
            </a:pPr>
            <a:r>
              <a:rPr lang="en-US" sz="1700" dirty="0">
                <a:solidFill>
                  <a:srgbClr val="2A303C"/>
                </a:solidFill>
                <a:latin typeface="Arial" pitchFamily="34" charset="0"/>
                <a:ea typeface="Arial" pitchFamily="34" charset="-122"/>
                <a:cs typeface="Arial" pitchFamily="34" charset="-120"/>
              </a:rPr>
              <a:t>›</a:t>
            </a:r>
            <a:endParaRPr lang="en-US" sz="1700" dirty="0"/>
          </a:p>
        </p:txBody>
      </p:sp>
      <p:sp>
        <p:nvSpPr>
          <p:cNvPr id="21" name="Shape 18"/>
          <p:cNvSpPr/>
          <p:nvPr/>
        </p:nvSpPr>
        <p:spPr>
          <a:xfrm>
            <a:off x="7324344" y="1417320"/>
            <a:ext cx="1965960" cy="914400"/>
          </a:xfrm>
          <a:prstGeom prst="roundRect">
            <a:avLst>
              <a:gd name="adj" fmla="val 6000"/>
            </a:avLst>
          </a:prstGeom>
          <a:solidFill>
            <a:srgbClr val="161A22"/>
          </a:solidFill>
          <a:ln w="12700">
            <a:solidFill>
              <a:srgbClr val="2A303C"/>
            </a:solidFill>
            <a:prstDash val="solid"/>
          </a:ln>
        </p:spPr>
      </p:sp>
      <p:sp>
        <p:nvSpPr>
          <p:cNvPr id="22" name="Text 19"/>
          <p:cNvSpPr/>
          <p:nvPr/>
        </p:nvSpPr>
        <p:spPr>
          <a:xfrm>
            <a:off x="7488936" y="1536192"/>
            <a:ext cx="274320" cy="228600"/>
          </a:xfrm>
          <a:prstGeom prst="rect">
            <a:avLst/>
          </a:prstGeom>
          <a:noFill/>
          <a:ln/>
        </p:spPr>
        <p:txBody>
          <a:bodyPr wrap="square" rtlCol="0" anchor="ctr"/>
          <a:lstStyle/>
          <a:p>
            <a:pPr indent="0" marL="0">
              <a:buNone/>
            </a:pPr>
            <a:r>
              <a:rPr lang="en-US" sz="1000" b="1" dirty="0">
                <a:solidFill>
                  <a:srgbClr val="FF6A2C"/>
                </a:solidFill>
                <a:latin typeface="Arial" pitchFamily="34" charset="0"/>
                <a:ea typeface="Arial" pitchFamily="34" charset="-122"/>
                <a:cs typeface="Arial" pitchFamily="34" charset="-120"/>
              </a:rPr>
              <a:t>4</a:t>
            </a:r>
            <a:endParaRPr lang="en-US" sz="1000" dirty="0"/>
          </a:p>
        </p:txBody>
      </p:sp>
      <p:sp>
        <p:nvSpPr>
          <p:cNvPr id="23" name="Text 20"/>
          <p:cNvSpPr/>
          <p:nvPr/>
        </p:nvSpPr>
        <p:spPr>
          <a:xfrm>
            <a:off x="7488936" y="1737360"/>
            <a:ext cx="1645920" cy="274320"/>
          </a:xfrm>
          <a:prstGeom prst="rect">
            <a:avLst/>
          </a:prstGeom>
          <a:noFill/>
          <a:ln/>
        </p:spPr>
        <p:txBody>
          <a:bodyPr wrap="square" rtlCol="0" anchor="ctr"/>
          <a:lstStyle/>
          <a:p>
            <a:pPr indent="0" marL="0">
              <a:buNone/>
            </a:pPr>
            <a:r>
              <a:rPr lang="en-US" sz="1450" b="1" dirty="0">
                <a:solidFill>
                  <a:srgbClr val="F2F3F5"/>
                </a:solidFill>
                <a:latin typeface="Arial" pitchFamily="34" charset="0"/>
                <a:ea typeface="Arial" pitchFamily="34" charset="-122"/>
                <a:cs typeface="Arial" pitchFamily="34" charset="-120"/>
              </a:rPr>
              <a:t>Sorteo</a:t>
            </a:r>
            <a:endParaRPr lang="en-US" sz="1450" dirty="0"/>
          </a:p>
        </p:txBody>
      </p:sp>
      <p:sp>
        <p:nvSpPr>
          <p:cNvPr id="24" name="Text 21"/>
          <p:cNvSpPr/>
          <p:nvPr/>
        </p:nvSpPr>
        <p:spPr>
          <a:xfrm>
            <a:off x="7488936" y="1993392"/>
            <a:ext cx="1691640" cy="256032"/>
          </a:xfrm>
          <a:prstGeom prst="rect">
            <a:avLst/>
          </a:prstGeom>
          <a:noFill/>
          <a:ln/>
        </p:spPr>
        <p:txBody>
          <a:bodyPr wrap="square" rtlCol="0" anchor="ctr"/>
          <a:lstStyle/>
          <a:p>
            <a:pPr indent="0" marL="0">
              <a:buNone/>
            </a:pPr>
            <a:r>
              <a:rPr lang="en-US" sz="1050" dirty="0">
                <a:solidFill>
                  <a:srgbClr val="8A93A6"/>
                </a:solidFill>
                <a:latin typeface="Arial" pitchFamily="34" charset="0"/>
                <a:ea typeface="Arial" pitchFamily="34" charset="-122"/>
                <a:cs typeface="Arial" pitchFamily="34" charset="-120"/>
              </a:rPr>
              <a:t>Chainlink VRF</a:t>
            </a:r>
            <a:endParaRPr lang="en-US" sz="1050" dirty="0"/>
          </a:p>
        </p:txBody>
      </p:sp>
      <p:sp>
        <p:nvSpPr>
          <p:cNvPr id="25" name="Text 22"/>
          <p:cNvSpPr/>
          <p:nvPr/>
        </p:nvSpPr>
        <p:spPr>
          <a:xfrm>
            <a:off x="9290304" y="1417320"/>
            <a:ext cx="246888" cy="914400"/>
          </a:xfrm>
          <a:prstGeom prst="rect">
            <a:avLst/>
          </a:prstGeom>
          <a:noFill/>
          <a:ln/>
        </p:spPr>
        <p:txBody>
          <a:bodyPr wrap="square" rtlCol="0" anchor="ctr"/>
          <a:lstStyle/>
          <a:p>
            <a:pPr algn="ctr" indent="0" marL="0">
              <a:buNone/>
            </a:pPr>
            <a:r>
              <a:rPr lang="en-US" sz="1700" dirty="0">
                <a:solidFill>
                  <a:srgbClr val="2A303C"/>
                </a:solidFill>
                <a:latin typeface="Arial" pitchFamily="34" charset="0"/>
                <a:ea typeface="Arial" pitchFamily="34" charset="-122"/>
                <a:cs typeface="Arial" pitchFamily="34" charset="-120"/>
              </a:rPr>
              <a:t>›</a:t>
            </a:r>
            <a:endParaRPr lang="en-US" sz="1700" dirty="0"/>
          </a:p>
        </p:txBody>
      </p:sp>
      <p:sp>
        <p:nvSpPr>
          <p:cNvPr id="26" name="Shape 23"/>
          <p:cNvSpPr/>
          <p:nvPr/>
        </p:nvSpPr>
        <p:spPr>
          <a:xfrm>
            <a:off x="9537192" y="1417320"/>
            <a:ext cx="1965960" cy="914400"/>
          </a:xfrm>
          <a:prstGeom prst="roundRect">
            <a:avLst>
              <a:gd name="adj" fmla="val 6000"/>
            </a:avLst>
          </a:prstGeom>
          <a:solidFill>
            <a:srgbClr val="161A22"/>
          </a:solidFill>
          <a:ln w="12700">
            <a:solidFill>
              <a:srgbClr val="2A303C"/>
            </a:solidFill>
            <a:prstDash val="solid"/>
          </a:ln>
        </p:spPr>
      </p:sp>
      <p:sp>
        <p:nvSpPr>
          <p:cNvPr id="27" name="Text 24"/>
          <p:cNvSpPr/>
          <p:nvPr/>
        </p:nvSpPr>
        <p:spPr>
          <a:xfrm>
            <a:off x="9701784" y="1536192"/>
            <a:ext cx="274320" cy="228600"/>
          </a:xfrm>
          <a:prstGeom prst="rect">
            <a:avLst/>
          </a:prstGeom>
          <a:noFill/>
          <a:ln/>
        </p:spPr>
        <p:txBody>
          <a:bodyPr wrap="square" rtlCol="0" anchor="ctr"/>
          <a:lstStyle/>
          <a:p>
            <a:pPr indent="0" marL="0">
              <a:buNone/>
            </a:pPr>
            <a:r>
              <a:rPr lang="en-US" sz="1000" b="1" dirty="0">
                <a:solidFill>
                  <a:srgbClr val="FF6A2C"/>
                </a:solidFill>
                <a:latin typeface="Arial" pitchFamily="34" charset="0"/>
                <a:ea typeface="Arial" pitchFamily="34" charset="-122"/>
                <a:cs typeface="Arial" pitchFamily="34" charset="-120"/>
              </a:rPr>
              <a:t>5</a:t>
            </a:r>
            <a:endParaRPr lang="en-US" sz="1000" dirty="0"/>
          </a:p>
        </p:txBody>
      </p:sp>
      <p:sp>
        <p:nvSpPr>
          <p:cNvPr id="28" name="Text 25"/>
          <p:cNvSpPr/>
          <p:nvPr/>
        </p:nvSpPr>
        <p:spPr>
          <a:xfrm>
            <a:off x="9701784" y="1737360"/>
            <a:ext cx="1645920" cy="274320"/>
          </a:xfrm>
          <a:prstGeom prst="rect">
            <a:avLst/>
          </a:prstGeom>
          <a:noFill/>
          <a:ln/>
        </p:spPr>
        <p:txBody>
          <a:bodyPr wrap="square" rtlCol="0" anchor="ctr"/>
          <a:lstStyle/>
          <a:p>
            <a:pPr indent="0" marL="0">
              <a:buNone/>
            </a:pPr>
            <a:r>
              <a:rPr lang="en-US" sz="1450" b="1" dirty="0">
                <a:solidFill>
                  <a:srgbClr val="F2F3F5"/>
                </a:solidFill>
                <a:latin typeface="Arial" pitchFamily="34" charset="0"/>
                <a:ea typeface="Arial" pitchFamily="34" charset="-122"/>
                <a:cs typeface="Arial" pitchFamily="34" charset="-120"/>
              </a:rPr>
              <a:t>Cobrás</a:t>
            </a:r>
            <a:endParaRPr lang="en-US" sz="1450" dirty="0"/>
          </a:p>
        </p:txBody>
      </p:sp>
      <p:sp>
        <p:nvSpPr>
          <p:cNvPr id="29" name="Text 26"/>
          <p:cNvSpPr/>
          <p:nvPr/>
        </p:nvSpPr>
        <p:spPr>
          <a:xfrm>
            <a:off x="9701784" y="1993392"/>
            <a:ext cx="1691640" cy="256032"/>
          </a:xfrm>
          <a:prstGeom prst="rect">
            <a:avLst/>
          </a:prstGeom>
          <a:noFill/>
          <a:ln/>
        </p:spPr>
        <p:txBody>
          <a:bodyPr wrap="square" rtlCol="0" anchor="ctr"/>
          <a:lstStyle/>
          <a:p>
            <a:pPr indent="0" marL="0">
              <a:buNone/>
            </a:pPr>
            <a:r>
              <a:rPr lang="en-US" sz="1050" dirty="0">
                <a:solidFill>
                  <a:srgbClr val="8A93A6"/>
                </a:solidFill>
                <a:latin typeface="Arial" pitchFamily="34" charset="0"/>
                <a:ea typeface="Arial" pitchFamily="34" charset="-122"/>
                <a:cs typeface="Arial" pitchFamily="34" charset="-120"/>
              </a:rPr>
              <a:t>pago verificable</a:t>
            </a:r>
            <a:endParaRPr lang="en-US" sz="1050" dirty="0"/>
          </a:p>
        </p:txBody>
      </p:sp>
      <p:sp>
        <p:nvSpPr>
          <p:cNvPr id="30" name="Shape 27"/>
          <p:cNvSpPr/>
          <p:nvPr/>
        </p:nvSpPr>
        <p:spPr>
          <a:xfrm>
            <a:off x="685800" y="2606040"/>
            <a:ext cx="10817352" cy="3063240"/>
          </a:xfrm>
          <a:prstGeom prst="roundRect">
            <a:avLst>
              <a:gd name="adj" fmla="val 1791"/>
            </a:avLst>
          </a:prstGeom>
          <a:solidFill>
            <a:srgbClr val="161A22"/>
          </a:solidFill>
          <a:ln w="12700">
            <a:solidFill>
              <a:srgbClr val="2A303C"/>
            </a:solidFill>
            <a:prstDash val="solid"/>
          </a:ln>
        </p:spPr>
      </p:sp>
      <p:sp>
        <p:nvSpPr>
          <p:cNvPr id="31" name="Text 28"/>
          <p:cNvSpPr/>
          <p:nvPr/>
        </p:nvSpPr>
        <p:spPr>
          <a:xfrm>
            <a:off x="1097280" y="2816352"/>
            <a:ext cx="9994392" cy="347472"/>
          </a:xfrm>
          <a:prstGeom prst="rect">
            <a:avLst/>
          </a:prstGeom>
          <a:noFill/>
          <a:ln/>
        </p:spPr>
        <p:txBody>
          <a:bodyPr wrap="square" rtlCol="0" anchor="ctr"/>
          <a:lstStyle/>
          <a:p>
            <a:pPr indent="0" marL="0">
              <a:buNone/>
            </a:pPr>
            <a:r>
              <a:rPr lang="en-US" sz="1600" b="1" spc="60" kern="0" dirty="0">
                <a:solidFill>
                  <a:srgbClr val="FF6A2C"/>
                </a:solidFill>
                <a:latin typeface="Arial" pitchFamily="34" charset="0"/>
                <a:ea typeface="Arial" pitchFamily="34" charset="-122"/>
                <a:cs typeface="Arial" pitchFamily="34" charset="-120"/>
              </a:rPr>
              <a:t>NO ES UNA MAQUETA. ES UNA CARRERA REAL, EN SEPOLIA.</a:t>
            </a:r>
            <a:endParaRPr lang="en-US" sz="1600" dirty="0"/>
          </a:p>
        </p:txBody>
      </p:sp>
      <p:sp>
        <p:nvSpPr>
          <p:cNvPr id="32" name="Text 29"/>
          <p:cNvSpPr/>
          <p:nvPr/>
        </p:nvSpPr>
        <p:spPr>
          <a:xfrm>
            <a:off x="1097280" y="3310128"/>
            <a:ext cx="2377440" cy="292608"/>
          </a:xfrm>
          <a:prstGeom prst="rect">
            <a:avLst/>
          </a:prstGeom>
          <a:noFill/>
          <a:ln/>
        </p:spPr>
        <p:txBody>
          <a:bodyPr wrap="square" rtlCol="0" anchor="ctr"/>
          <a:lstStyle/>
          <a:p>
            <a:pPr indent="0" marL="0">
              <a:buNone/>
            </a:pPr>
            <a:r>
              <a:rPr lang="en-US" sz="1250" dirty="0">
                <a:solidFill>
                  <a:srgbClr val="8A93A6"/>
                </a:solidFill>
                <a:latin typeface="Arial" pitchFamily="34" charset="0"/>
                <a:ea typeface="Arial" pitchFamily="34" charset="-122"/>
                <a:cs typeface="Arial" pitchFamily="34" charset="-120"/>
              </a:rPr>
              <a:t>Carrera #1</a:t>
            </a:r>
            <a:endParaRPr lang="en-US" sz="1250" dirty="0"/>
          </a:p>
        </p:txBody>
      </p:sp>
      <p:sp>
        <p:nvSpPr>
          <p:cNvPr id="33" name="Text 30"/>
          <p:cNvSpPr/>
          <p:nvPr/>
        </p:nvSpPr>
        <p:spPr>
          <a:xfrm>
            <a:off x="3474720" y="3310128"/>
            <a:ext cx="6949440" cy="292608"/>
          </a:xfrm>
          <a:prstGeom prst="rect">
            <a:avLst/>
          </a:prstGeom>
          <a:noFill/>
          <a:ln/>
        </p:spPr>
        <p:txBody>
          <a:bodyPr wrap="square" rtlCol="0" anchor="ctr"/>
          <a:lstStyle/>
          <a:p>
            <a:pPr indent="0" marL="0">
              <a:buNone/>
            </a:pPr>
            <a:r>
              <a:rPr lang="en-US" sz="1300" dirty="0">
                <a:solidFill>
                  <a:srgbClr val="F2F3F5"/>
                </a:solidFill>
                <a:latin typeface="Consolas" pitchFamily="34" charset="0"/>
                <a:ea typeface="Consolas" pitchFamily="34" charset="-122"/>
                <a:cs typeface="Consolas" pitchFamily="34" charset="-120"/>
              </a:rPr>
              <a:t>8 jugadores  ·  pot 18 MRBL</a:t>
            </a:r>
            <a:endParaRPr lang="en-US" sz="1300" dirty="0"/>
          </a:p>
        </p:txBody>
      </p:sp>
      <p:sp>
        <p:nvSpPr>
          <p:cNvPr id="34" name="Text 31"/>
          <p:cNvSpPr/>
          <p:nvPr/>
        </p:nvSpPr>
        <p:spPr>
          <a:xfrm>
            <a:off x="1097280" y="3694176"/>
            <a:ext cx="2377440" cy="292608"/>
          </a:xfrm>
          <a:prstGeom prst="rect">
            <a:avLst/>
          </a:prstGeom>
          <a:noFill/>
          <a:ln/>
        </p:spPr>
        <p:txBody>
          <a:bodyPr wrap="square" rtlCol="0" anchor="ctr"/>
          <a:lstStyle/>
          <a:p>
            <a:pPr indent="0" marL="0">
              <a:buNone/>
            </a:pPr>
            <a:r>
              <a:rPr lang="en-US" sz="1250" dirty="0">
                <a:solidFill>
                  <a:srgbClr val="8A93A6"/>
                </a:solidFill>
                <a:latin typeface="Arial" pitchFamily="34" charset="0"/>
                <a:ea typeface="Arial" pitchFamily="34" charset="-122"/>
                <a:cs typeface="Arial" pitchFamily="34" charset="-120"/>
              </a:rPr>
              <a:t>Orden de llegada</a:t>
            </a:r>
            <a:endParaRPr lang="en-US" sz="1250" dirty="0"/>
          </a:p>
        </p:txBody>
      </p:sp>
      <p:sp>
        <p:nvSpPr>
          <p:cNvPr id="35" name="Text 32"/>
          <p:cNvSpPr/>
          <p:nvPr/>
        </p:nvSpPr>
        <p:spPr>
          <a:xfrm>
            <a:off x="3474720" y="3694176"/>
            <a:ext cx="6949440" cy="292608"/>
          </a:xfrm>
          <a:prstGeom prst="rect">
            <a:avLst/>
          </a:prstGeom>
          <a:noFill/>
          <a:ln/>
        </p:spPr>
        <p:txBody>
          <a:bodyPr wrap="square" rtlCol="0" anchor="ctr"/>
          <a:lstStyle/>
          <a:p>
            <a:pPr indent="0" marL="0">
              <a:buNone/>
            </a:pPr>
            <a:r>
              <a:rPr lang="en-US" sz="1300" dirty="0">
                <a:solidFill>
                  <a:srgbClr val="F2F3F5"/>
                </a:solidFill>
                <a:latin typeface="Consolas" pitchFamily="34" charset="0"/>
                <a:ea typeface="Consolas" pitchFamily="34" charset="-122"/>
                <a:cs typeface="Consolas" pitchFamily="34" charset="-120"/>
              </a:rPr>
              <a:t>[ 22, 23, 24, 21, 20, 18, 19, 25 ]</a:t>
            </a:r>
            <a:endParaRPr lang="en-US" sz="1300" dirty="0"/>
          </a:p>
        </p:txBody>
      </p:sp>
      <p:sp>
        <p:nvSpPr>
          <p:cNvPr id="36" name="Text 33"/>
          <p:cNvSpPr/>
          <p:nvPr/>
        </p:nvSpPr>
        <p:spPr>
          <a:xfrm>
            <a:off x="1097280" y="4078224"/>
            <a:ext cx="2377440" cy="292608"/>
          </a:xfrm>
          <a:prstGeom prst="rect">
            <a:avLst/>
          </a:prstGeom>
          <a:noFill/>
          <a:ln/>
        </p:spPr>
        <p:txBody>
          <a:bodyPr wrap="square" rtlCol="0" anchor="ctr"/>
          <a:lstStyle/>
          <a:p>
            <a:pPr indent="0" marL="0">
              <a:buNone/>
            </a:pPr>
            <a:r>
              <a:rPr lang="en-US" sz="1250" dirty="0">
                <a:solidFill>
                  <a:srgbClr val="8A93A6"/>
                </a:solidFill>
                <a:latin typeface="Arial" pitchFamily="34" charset="0"/>
                <a:ea typeface="Arial" pitchFamily="34" charset="-122"/>
                <a:cs typeface="Arial" pitchFamily="34" charset="-120"/>
              </a:rPr>
              <a:t>Pagos</a:t>
            </a:r>
            <a:endParaRPr lang="en-US" sz="1250" dirty="0"/>
          </a:p>
        </p:txBody>
      </p:sp>
      <p:sp>
        <p:nvSpPr>
          <p:cNvPr id="37" name="Text 34"/>
          <p:cNvSpPr/>
          <p:nvPr/>
        </p:nvSpPr>
        <p:spPr>
          <a:xfrm>
            <a:off x="3474720" y="4078224"/>
            <a:ext cx="6949440" cy="292608"/>
          </a:xfrm>
          <a:prstGeom prst="rect">
            <a:avLst/>
          </a:prstGeom>
          <a:noFill/>
          <a:ln/>
        </p:spPr>
        <p:txBody>
          <a:bodyPr wrap="square" rtlCol="0" anchor="ctr"/>
          <a:lstStyle/>
          <a:p>
            <a:pPr indent="0" marL="0">
              <a:buNone/>
            </a:pPr>
            <a:r>
              <a:rPr lang="en-US" sz="1300" dirty="0">
                <a:solidFill>
                  <a:srgbClr val="F2F3F5"/>
                </a:solidFill>
                <a:latin typeface="Consolas" pitchFamily="34" charset="0"/>
                <a:ea typeface="Consolas" pitchFamily="34" charset="-122"/>
                <a:cs typeface="Consolas" pitchFamily="34" charset="-120"/>
              </a:rPr>
              <a:t>9,0  /  4,5  /  2,25      quemado 1,8      dust 0</a:t>
            </a:r>
            <a:endParaRPr lang="en-US" sz="1300" dirty="0"/>
          </a:p>
        </p:txBody>
      </p:sp>
      <p:sp>
        <p:nvSpPr>
          <p:cNvPr id="38" name="Text 35"/>
          <p:cNvSpPr/>
          <p:nvPr/>
        </p:nvSpPr>
        <p:spPr>
          <a:xfrm>
            <a:off x="1097280" y="4462272"/>
            <a:ext cx="2377440" cy="292608"/>
          </a:xfrm>
          <a:prstGeom prst="rect">
            <a:avLst/>
          </a:prstGeom>
          <a:noFill/>
          <a:ln/>
        </p:spPr>
        <p:txBody>
          <a:bodyPr wrap="square" rtlCol="0" anchor="ctr"/>
          <a:lstStyle/>
          <a:p>
            <a:pPr indent="0" marL="0">
              <a:buNone/>
            </a:pPr>
            <a:r>
              <a:rPr lang="en-US" sz="1250" dirty="0">
                <a:solidFill>
                  <a:srgbClr val="8A93A6"/>
                </a:solidFill>
                <a:latin typeface="Arial" pitchFamily="34" charset="0"/>
                <a:ea typeface="Arial" pitchFamily="34" charset="-122"/>
                <a:cs typeface="Arial" pitchFamily="34" charset="-120"/>
              </a:rPr>
              <a:t>Chainlink VRF</a:t>
            </a:r>
            <a:endParaRPr lang="en-US" sz="1250" dirty="0"/>
          </a:p>
        </p:txBody>
      </p:sp>
      <p:sp>
        <p:nvSpPr>
          <p:cNvPr id="39" name="Text 36"/>
          <p:cNvSpPr/>
          <p:nvPr/>
        </p:nvSpPr>
        <p:spPr>
          <a:xfrm>
            <a:off x="3474720" y="4462272"/>
            <a:ext cx="6949440" cy="292608"/>
          </a:xfrm>
          <a:prstGeom prst="rect">
            <a:avLst/>
          </a:prstGeom>
          <a:noFill/>
          <a:ln/>
        </p:spPr>
        <p:txBody>
          <a:bodyPr wrap="square" rtlCol="0" anchor="ctr"/>
          <a:lstStyle/>
          <a:p>
            <a:pPr indent="0" marL="0">
              <a:buNone/>
            </a:pPr>
            <a:r>
              <a:rPr lang="en-US" sz="1300" dirty="0">
                <a:solidFill>
                  <a:srgbClr val="F2F3F5"/>
                </a:solidFill>
                <a:latin typeface="Consolas" pitchFamily="34" charset="0"/>
                <a:ea typeface="Consolas" pitchFamily="34" charset="-122"/>
                <a:cs typeface="Consolas" pitchFamily="34" charset="-120"/>
              </a:rPr>
              <a:t>60 segundos, 5 bloques</a:t>
            </a:r>
            <a:endParaRPr lang="en-US" sz="1300" dirty="0"/>
          </a:p>
        </p:txBody>
      </p:sp>
      <p:sp>
        <p:nvSpPr>
          <p:cNvPr id="40" name="Shape 37"/>
          <p:cNvSpPr/>
          <p:nvPr/>
        </p:nvSpPr>
        <p:spPr>
          <a:xfrm>
            <a:off x="1097280" y="4956048"/>
            <a:ext cx="9994392" cy="10973"/>
          </a:xfrm>
          <a:prstGeom prst="rect">
            <a:avLst/>
          </a:prstGeom>
          <a:solidFill>
            <a:srgbClr val="2A303C"/>
          </a:solidFill>
          <a:ln w="12700">
            <a:solidFill>
              <a:srgbClr val="333333"/>
            </a:solidFill>
            <a:prstDash val="solid"/>
          </a:ln>
        </p:spPr>
      </p:sp>
      <p:sp>
        <p:nvSpPr>
          <p:cNvPr id="41" name="Text 38"/>
          <p:cNvSpPr/>
          <p:nvPr/>
        </p:nvSpPr>
        <p:spPr>
          <a:xfrm>
            <a:off x="1097280" y="5120640"/>
            <a:ext cx="9994392" cy="411480"/>
          </a:xfrm>
          <a:prstGeom prst="rect">
            <a:avLst/>
          </a:prstGeom>
          <a:noFill/>
          <a:ln/>
        </p:spPr>
        <p:txBody>
          <a:bodyPr wrap="square" rtlCol="0" anchor="ctr"/>
          <a:lstStyle/>
          <a:p>
            <a:pPr indent="0" marL="0">
              <a:buNone/>
            </a:pPr>
            <a:r>
              <a:rPr lang="en-US" sz="1500" dirty="0">
                <a:solidFill>
                  <a:srgbClr val="F2F3F5"/>
                </a:solidFill>
                <a:latin typeface="Arial" pitchFamily="34" charset="0"/>
                <a:ea typeface="Arial" pitchFamily="34" charset="-122"/>
                <a:cs typeface="Arial" pitchFamily="34" charset="-120"/>
              </a:rPr>
              <a:t>Recomputamos el sorteo fuera de la cadena, desde el randomWord público:  </a:t>
            </a:r>
            <a:pPr indent="0" marL="0">
              <a:buNone/>
            </a:pPr>
            <a:r>
              <a:rPr lang="en-US" sz="1500" b="1" dirty="0">
                <a:solidFill>
                  <a:srgbClr val="44DC8A"/>
                </a:solidFill>
                <a:latin typeface="Arial" pitchFamily="34" charset="0"/>
                <a:ea typeface="Arial" pitchFamily="34" charset="-122"/>
                <a:cs typeface="Arial" pitchFamily="34" charset="-120"/>
              </a:rPr>
              <a:t>dio el mismo podio. 8 de 8.</a:t>
            </a:r>
            <a:endParaRPr lang="en-US" sz="1500" dirty="0"/>
          </a:p>
        </p:txBody>
      </p:sp>
      <p:sp>
        <p:nvSpPr>
          <p:cNvPr id="42" name="Text 39"/>
          <p:cNvSpPr/>
          <p:nvPr/>
        </p:nvSpPr>
        <p:spPr>
          <a:xfrm>
            <a:off x="685800" y="5870448"/>
            <a:ext cx="10817352" cy="256032"/>
          </a:xfrm>
          <a:prstGeom prst="rect">
            <a:avLst/>
          </a:prstGeom>
          <a:noFill/>
          <a:ln/>
        </p:spPr>
        <p:txBody>
          <a:bodyPr wrap="square" rtlCol="0" anchor="ctr"/>
          <a:lstStyle/>
          <a:p>
            <a:pPr algn="r" indent="0" marL="0">
              <a:buNone/>
            </a:pPr>
            <a:r>
              <a:rPr lang="en-US" sz="950" dirty="0">
                <a:solidFill>
                  <a:srgbClr val="8A93A6"/>
                </a:solidFill>
                <a:latin typeface="Arial" pitchFamily="34" charset="0"/>
                <a:ea typeface="Arial" pitchFamily="34" charset="-122"/>
                <a:cs typeface="Arial" pitchFamily="34" charset="-120"/>
              </a:rPr>
              <a:t>MarbleRace  0x48C6…2215  ·  Sepolia · verificado</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2"/>
        </a:solidFill>
      </p:bgPr>
    </p:bg>
    <p:spTree>
      <p:nvGrpSpPr>
        <p:cNvPr id="1" name=""/>
        <p:cNvGrpSpPr/>
        <p:nvPr/>
      </p:nvGrpSpPr>
      <p:grpSpPr>
        <a:xfrm>
          <a:off x="0" y="0"/>
          <a:ext cx="0" cy="0"/>
          <a:chOff x="0" y="0"/>
          <a:chExt cx="0" cy="0"/>
        </a:xfrm>
      </p:grpSpPr>
      <p:sp>
        <p:nvSpPr>
          <p:cNvPr id="3" name="Text 0"/>
          <p:cNvSpPr/>
          <p:nvPr/>
        </p:nvSpPr>
        <p:spPr>
          <a:xfrm>
            <a:off x="685800" y="384048"/>
            <a:ext cx="10817352" cy="274320"/>
          </a:xfrm>
          <a:prstGeom prst="rect">
            <a:avLst/>
          </a:prstGeom>
          <a:noFill/>
          <a:ln/>
        </p:spPr>
        <p:txBody>
          <a:bodyPr wrap="square" rtlCol="0" anchor="ctr"/>
          <a:lstStyle/>
          <a:p>
            <a:pPr indent="0" marL="0">
              <a:buNone/>
            </a:pPr>
            <a:r>
              <a:rPr lang="en-US" sz="1300" b="1" spc="250" kern="0" dirty="0">
                <a:solidFill>
                  <a:srgbClr val="F2F3F5"/>
                </a:solidFill>
                <a:latin typeface="Arial" pitchFamily="34" charset="0"/>
                <a:ea typeface="Arial" pitchFamily="34" charset="-122"/>
                <a:cs typeface="Arial" pitchFamily="34" charset="-120"/>
              </a:rPr>
              <a:t>MERCADO</a:t>
            </a:r>
            <a:endParaRPr lang="en-US" sz="1300" dirty="0"/>
          </a:p>
        </p:txBody>
      </p:sp>
      <p:sp>
        <p:nvSpPr>
          <p:cNvPr id="4" name="Text 1"/>
          <p:cNvSpPr/>
          <p:nvPr/>
        </p:nvSpPr>
        <p:spPr>
          <a:xfrm>
            <a:off x="685800" y="685800"/>
            <a:ext cx="10817352" cy="274320"/>
          </a:xfrm>
          <a:prstGeom prst="rect">
            <a:avLst/>
          </a:prstGeom>
          <a:noFill/>
          <a:ln/>
        </p:spPr>
        <p:txBody>
          <a:bodyPr wrap="square" rtlCol="0" anchor="ctr"/>
          <a:lstStyle/>
          <a:p>
            <a:pPr indent="0" marL="0">
              <a:buNone/>
            </a:pPr>
            <a:r>
              <a:rPr lang="en-US" sz="1300" dirty="0">
                <a:solidFill>
                  <a:srgbClr val="8A93A6"/>
                </a:solidFill>
                <a:latin typeface="Arial" pitchFamily="34" charset="0"/>
                <a:ea typeface="Arial" pitchFamily="34" charset="-122"/>
                <a:cs typeface="Arial" pitchFamily="34" charset="-120"/>
              </a:rPr>
              <a:t>Un mercado que crece, sobre una audiencia que ya existe.</a:t>
            </a:r>
            <a:endParaRPr lang="en-US" sz="1300" dirty="0"/>
          </a:p>
        </p:txBody>
      </p:sp>
      <p:sp>
        <p:nvSpPr>
          <p:cNvPr id="5" name="Shape 2"/>
          <p:cNvSpPr/>
          <p:nvPr/>
        </p:nvSpPr>
        <p:spPr>
          <a:xfrm>
            <a:off x="685800" y="1078992"/>
            <a:ext cx="10817352" cy="10973"/>
          </a:xfrm>
          <a:prstGeom prst="rect">
            <a:avLst/>
          </a:prstGeom>
          <a:solidFill>
            <a:srgbClr val="2A303C"/>
          </a:solidFill>
          <a:ln w="12700">
            <a:solidFill>
              <a:srgbClr val="333333"/>
            </a:solidFill>
            <a:prstDash val="solid"/>
          </a:ln>
        </p:spPr>
      </p:sp>
      <p:sp>
        <p:nvSpPr>
          <p:cNvPr id="6" name="Shape 3"/>
          <p:cNvSpPr/>
          <p:nvPr/>
        </p:nvSpPr>
        <p:spPr>
          <a:xfrm>
            <a:off x="685800" y="1463040"/>
            <a:ext cx="10817352" cy="960120"/>
          </a:xfrm>
          <a:prstGeom prst="roundRect">
            <a:avLst>
              <a:gd name="adj" fmla="val 5714"/>
            </a:avLst>
          </a:prstGeom>
          <a:solidFill>
            <a:srgbClr val="161A22"/>
          </a:solidFill>
          <a:ln w="12700">
            <a:solidFill>
              <a:srgbClr val="2A303C"/>
            </a:solidFill>
            <a:prstDash val="solid"/>
          </a:ln>
        </p:spPr>
      </p:sp>
      <p:sp>
        <p:nvSpPr>
          <p:cNvPr id="7" name="Text 4"/>
          <p:cNvSpPr/>
          <p:nvPr/>
        </p:nvSpPr>
        <p:spPr>
          <a:xfrm>
            <a:off x="1051560" y="1737360"/>
            <a:ext cx="868680" cy="411480"/>
          </a:xfrm>
          <a:prstGeom prst="rect">
            <a:avLst/>
          </a:prstGeom>
          <a:noFill/>
          <a:ln/>
        </p:spPr>
        <p:txBody>
          <a:bodyPr wrap="square" rtlCol="0" anchor="ctr"/>
          <a:lstStyle/>
          <a:p>
            <a:pPr indent="0" marL="0">
              <a:buNone/>
            </a:pPr>
            <a:r>
              <a:rPr lang="en-US" sz="1700" b="1" spc="100" kern="0" dirty="0">
                <a:solidFill>
                  <a:srgbClr val="FF6A2C"/>
                </a:solidFill>
                <a:latin typeface="Arial" pitchFamily="34" charset="0"/>
                <a:ea typeface="Arial" pitchFamily="34" charset="-122"/>
                <a:cs typeface="Arial" pitchFamily="34" charset="-120"/>
              </a:rPr>
              <a:t>TAM</a:t>
            </a:r>
            <a:endParaRPr lang="en-US" sz="1700" dirty="0"/>
          </a:p>
        </p:txBody>
      </p:sp>
      <p:sp>
        <p:nvSpPr>
          <p:cNvPr id="8" name="Text 5"/>
          <p:cNvSpPr/>
          <p:nvPr/>
        </p:nvSpPr>
        <p:spPr>
          <a:xfrm>
            <a:off x="2057400" y="1645920"/>
            <a:ext cx="9052560" cy="365760"/>
          </a:xfrm>
          <a:prstGeom prst="rect">
            <a:avLst/>
          </a:prstGeom>
          <a:noFill/>
          <a:ln/>
        </p:spPr>
        <p:txBody>
          <a:bodyPr wrap="square" rtlCol="0" anchor="ctr"/>
          <a:lstStyle/>
          <a:p>
            <a:pPr indent="0" marL="0">
              <a:buNone/>
            </a:pPr>
            <a:r>
              <a:rPr lang="en-US" sz="1700" b="1" dirty="0">
                <a:solidFill>
                  <a:srgbClr val="F2F3F5"/>
                </a:solidFill>
                <a:latin typeface="Arial" pitchFamily="34" charset="0"/>
                <a:ea typeface="Arial" pitchFamily="34" charset="-122"/>
                <a:cs typeface="Arial" pitchFamily="34" charset="-120"/>
              </a:rPr>
              <a:t>US$ 48,5 mil millones</a:t>
            </a:r>
            <a:endParaRPr lang="en-US" sz="1700" dirty="0"/>
          </a:p>
        </p:txBody>
      </p:sp>
      <p:sp>
        <p:nvSpPr>
          <p:cNvPr id="9" name="Text 6"/>
          <p:cNvSpPr/>
          <p:nvPr/>
        </p:nvSpPr>
        <p:spPr>
          <a:xfrm>
            <a:off x="2057400" y="2011680"/>
            <a:ext cx="9052560" cy="292608"/>
          </a:xfrm>
          <a:prstGeom prst="rect">
            <a:avLst/>
          </a:prstGeom>
          <a:noFill/>
          <a:ln/>
        </p:spPr>
        <p:txBody>
          <a:bodyPr wrap="square" rtlCol="0" anchor="ctr"/>
          <a:lstStyle/>
          <a:p>
            <a:pPr indent="0" marL="0">
              <a:buNone/>
            </a:pPr>
            <a:r>
              <a:rPr lang="en-US" sz="1200" dirty="0">
                <a:solidFill>
                  <a:srgbClr val="8A93A6"/>
                </a:solidFill>
                <a:latin typeface="Arial" pitchFamily="34" charset="0"/>
                <a:ea typeface="Arial" pitchFamily="34" charset="-122"/>
                <a:cs typeface="Arial" pitchFamily="34" charset="-120"/>
              </a:rPr>
              <a:t>Gaming Web3 en 2026, creciendo +22,4% anual  (Research and Markets)</a:t>
            </a:r>
            <a:endParaRPr lang="en-US" sz="1200" dirty="0"/>
          </a:p>
        </p:txBody>
      </p:sp>
      <p:sp>
        <p:nvSpPr>
          <p:cNvPr id="10" name="Shape 7"/>
          <p:cNvSpPr/>
          <p:nvPr/>
        </p:nvSpPr>
        <p:spPr>
          <a:xfrm>
            <a:off x="685800" y="2596896"/>
            <a:ext cx="10817352" cy="960120"/>
          </a:xfrm>
          <a:prstGeom prst="roundRect">
            <a:avLst>
              <a:gd name="adj" fmla="val 5714"/>
            </a:avLst>
          </a:prstGeom>
          <a:solidFill>
            <a:srgbClr val="161A22"/>
          </a:solidFill>
          <a:ln w="12700">
            <a:solidFill>
              <a:srgbClr val="2A303C"/>
            </a:solidFill>
            <a:prstDash val="solid"/>
          </a:ln>
        </p:spPr>
      </p:sp>
      <p:sp>
        <p:nvSpPr>
          <p:cNvPr id="11" name="Text 8"/>
          <p:cNvSpPr/>
          <p:nvPr/>
        </p:nvSpPr>
        <p:spPr>
          <a:xfrm>
            <a:off x="1051560" y="2871216"/>
            <a:ext cx="868680" cy="411480"/>
          </a:xfrm>
          <a:prstGeom prst="rect">
            <a:avLst/>
          </a:prstGeom>
          <a:noFill/>
          <a:ln/>
        </p:spPr>
        <p:txBody>
          <a:bodyPr wrap="square" rtlCol="0" anchor="ctr"/>
          <a:lstStyle/>
          <a:p>
            <a:pPr indent="0" marL="0">
              <a:buNone/>
            </a:pPr>
            <a:r>
              <a:rPr lang="en-US" sz="1700" b="1" spc="100" kern="0" dirty="0">
                <a:solidFill>
                  <a:srgbClr val="2FE0E0"/>
                </a:solidFill>
                <a:latin typeface="Arial" pitchFamily="34" charset="0"/>
                <a:ea typeface="Arial" pitchFamily="34" charset="-122"/>
                <a:cs typeface="Arial" pitchFamily="34" charset="-120"/>
              </a:rPr>
              <a:t>SAM</a:t>
            </a:r>
            <a:endParaRPr lang="en-US" sz="1700" dirty="0"/>
          </a:p>
        </p:txBody>
      </p:sp>
      <p:sp>
        <p:nvSpPr>
          <p:cNvPr id="12" name="Text 9"/>
          <p:cNvSpPr/>
          <p:nvPr/>
        </p:nvSpPr>
        <p:spPr>
          <a:xfrm>
            <a:off x="2057400" y="2779776"/>
            <a:ext cx="9052560" cy="365760"/>
          </a:xfrm>
          <a:prstGeom prst="rect">
            <a:avLst/>
          </a:prstGeom>
          <a:noFill/>
          <a:ln/>
        </p:spPr>
        <p:txBody>
          <a:bodyPr wrap="square" rtlCol="0" anchor="ctr"/>
          <a:lstStyle/>
          <a:p>
            <a:pPr indent="0" marL="0">
              <a:buNone/>
            </a:pPr>
            <a:r>
              <a:rPr lang="en-US" sz="1700" b="1" dirty="0">
                <a:solidFill>
                  <a:srgbClr val="F2F3F5"/>
                </a:solidFill>
                <a:latin typeface="Arial" pitchFamily="34" charset="0"/>
                <a:ea typeface="Arial" pitchFamily="34" charset="-122"/>
                <a:cs typeface="Arial" pitchFamily="34" charset="-120"/>
              </a:rPr>
              <a:t>La audiencia de contenido de carreras</a:t>
            </a:r>
            <a:endParaRPr lang="en-US" sz="1700" dirty="0"/>
          </a:p>
        </p:txBody>
      </p:sp>
      <p:sp>
        <p:nvSpPr>
          <p:cNvPr id="13" name="Text 10"/>
          <p:cNvSpPr/>
          <p:nvPr/>
        </p:nvSpPr>
        <p:spPr>
          <a:xfrm>
            <a:off x="2057400" y="3145536"/>
            <a:ext cx="9052560" cy="292608"/>
          </a:xfrm>
          <a:prstGeom prst="rect">
            <a:avLst/>
          </a:prstGeom>
          <a:noFill/>
          <a:ln/>
        </p:spPr>
        <p:txBody>
          <a:bodyPr wrap="square" rtlCol="0" anchor="ctr"/>
          <a:lstStyle/>
          <a:p>
            <a:pPr indent="0" marL="0">
              <a:buNone/>
            </a:pPr>
            <a:r>
              <a:rPr lang="en-US" sz="1200" dirty="0">
                <a:solidFill>
                  <a:srgbClr val="8A93A6"/>
                </a:solidFill>
                <a:latin typeface="Arial" pitchFamily="34" charset="0"/>
                <a:ea typeface="Arial" pitchFamily="34" charset="-122"/>
                <a:cs typeface="Arial" pitchFamily="34" charset="-120"/>
              </a:rPr>
              <a:t>Millones de espectadores recurrentes — hoy 100% pasivos</a:t>
            </a:r>
            <a:endParaRPr lang="en-US" sz="1200" dirty="0"/>
          </a:p>
        </p:txBody>
      </p:sp>
      <p:sp>
        <p:nvSpPr>
          <p:cNvPr id="14" name="Shape 11"/>
          <p:cNvSpPr/>
          <p:nvPr/>
        </p:nvSpPr>
        <p:spPr>
          <a:xfrm>
            <a:off x="685800" y="3730752"/>
            <a:ext cx="10817352" cy="960120"/>
          </a:xfrm>
          <a:prstGeom prst="roundRect">
            <a:avLst>
              <a:gd name="adj" fmla="val 5714"/>
            </a:avLst>
          </a:prstGeom>
          <a:solidFill>
            <a:srgbClr val="161A22"/>
          </a:solidFill>
          <a:ln w="12700">
            <a:solidFill>
              <a:srgbClr val="2A303C"/>
            </a:solidFill>
            <a:prstDash val="solid"/>
          </a:ln>
        </p:spPr>
      </p:sp>
      <p:sp>
        <p:nvSpPr>
          <p:cNvPr id="15" name="Text 12"/>
          <p:cNvSpPr/>
          <p:nvPr/>
        </p:nvSpPr>
        <p:spPr>
          <a:xfrm>
            <a:off x="1051560" y="4005072"/>
            <a:ext cx="868680" cy="411480"/>
          </a:xfrm>
          <a:prstGeom prst="rect">
            <a:avLst/>
          </a:prstGeom>
          <a:noFill/>
          <a:ln/>
        </p:spPr>
        <p:txBody>
          <a:bodyPr wrap="square" rtlCol="0" anchor="ctr"/>
          <a:lstStyle/>
          <a:p>
            <a:pPr indent="0" marL="0">
              <a:buNone/>
            </a:pPr>
            <a:r>
              <a:rPr lang="en-US" sz="1700" b="1" spc="100" kern="0" dirty="0">
                <a:solidFill>
                  <a:srgbClr val="44DC8A"/>
                </a:solidFill>
                <a:latin typeface="Arial" pitchFamily="34" charset="0"/>
                <a:ea typeface="Arial" pitchFamily="34" charset="-122"/>
                <a:cs typeface="Arial" pitchFamily="34" charset="-120"/>
              </a:rPr>
              <a:t>SOM</a:t>
            </a:r>
            <a:endParaRPr lang="en-US" sz="1700" dirty="0"/>
          </a:p>
        </p:txBody>
      </p:sp>
      <p:sp>
        <p:nvSpPr>
          <p:cNvPr id="16" name="Text 13"/>
          <p:cNvSpPr/>
          <p:nvPr/>
        </p:nvSpPr>
        <p:spPr>
          <a:xfrm>
            <a:off x="2057400" y="3913632"/>
            <a:ext cx="9052560" cy="365760"/>
          </a:xfrm>
          <a:prstGeom prst="rect">
            <a:avLst/>
          </a:prstGeom>
          <a:noFill/>
          <a:ln/>
        </p:spPr>
        <p:txBody>
          <a:bodyPr wrap="square" rtlCol="0" anchor="ctr"/>
          <a:lstStyle/>
          <a:p>
            <a:pPr indent="0" marL="0">
              <a:buNone/>
            </a:pPr>
            <a:r>
              <a:rPr lang="en-US" sz="1700" b="1" dirty="0">
                <a:solidFill>
                  <a:srgbClr val="F2F3F5"/>
                </a:solidFill>
                <a:latin typeface="Arial" pitchFamily="34" charset="0"/>
                <a:ea typeface="Arial" pitchFamily="34" charset="-122"/>
                <a:cs typeface="Arial" pitchFamily="34" charset="-120"/>
              </a:rPr>
              <a:t>256 bolitas · 16 licencias de creador</a:t>
            </a:r>
            <a:endParaRPr lang="en-US" sz="1700" dirty="0"/>
          </a:p>
        </p:txBody>
      </p:sp>
      <p:sp>
        <p:nvSpPr>
          <p:cNvPr id="17" name="Text 14"/>
          <p:cNvSpPr/>
          <p:nvPr/>
        </p:nvSpPr>
        <p:spPr>
          <a:xfrm>
            <a:off x="2057400" y="4279392"/>
            <a:ext cx="9052560" cy="292608"/>
          </a:xfrm>
          <a:prstGeom prst="rect">
            <a:avLst/>
          </a:prstGeom>
          <a:noFill/>
          <a:ln/>
        </p:spPr>
        <p:txBody>
          <a:bodyPr wrap="square" rtlCol="0" anchor="ctr"/>
          <a:lstStyle/>
          <a:p>
            <a:pPr indent="0" marL="0">
              <a:buNone/>
            </a:pPr>
            <a:r>
              <a:rPr lang="en-US" sz="1200" dirty="0">
                <a:solidFill>
                  <a:srgbClr val="8A93A6"/>
                </a:solidFill>
                <a:latin typeface="Arial" pitchFamily="34" charset="0"/>
                <a:ea typeface="Arial" pitchFamily="34" charset="-122"/>
                <a:cs typeface="Arial" pitchFamily="34" charset="-120"/>
              </a:rPr>
              <a:t>El MVP es chico a propósito</a:t>
            </a:r>
            <a:endParaRPr lang="en-US" sz="1200" dirty="0"/>
          </a:p>
        </p:txBody>
      </p:sp>
      <p:sp>
        <p:nvSpPr>
          <p:cNvPr id="18" name="Text 15"/>
          <p:cNvSpPr/>
          <p:nvPr/>
        </p:nvSpPr>
        <p:spPr>
          <a:xfrm>
            <a:off x="685800" y="5138928"/>
            <a:ext cx="10817352" cy="411480"/>
          </a:xfrm>
          <a:prstGeom prst="rect">
            <a:avLst/>
          </a:prstGeom>
          <a:noFill/>
          <a:ln/>
        </p:spPr>
        <p:txBody>
          <a:bodyPr wrap="square" rtlCol="0" anchor="ctr"/>
          <a:lstStyle/>
          <a:p>
            <a:pPr indent="0" marL="0">
              <a:buNone/>
            </a:pPr>
            <a:r>
              <a:rPr lang="en-US" sz="1600" b="1" dirty="0">
                <a:solidFill>
                  <a:srgbClr val="FF6A2C"/>
                </a:solidFill>
                <a:latin typeface="Arial" pitchFamily="34" charset="0"/>
                <a:ea typeface="Arial" pitchFamily="34" charset="-122"/>
                <a:cs typeface="Arial" pitchFamily="34" charset="-120"/>
              </a:rPr>
              <a:t>No existe hoy un producto que le dé participación verificable a esta audiencia. Ese es el hueco.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2"/>
        </a:solidFill>
      </p:bgPr>
    </p:bg>
    <p:spTree>
      <p:nvGrpSpPr>
        <p:cNvPr id="1" name=""/>
        <p:cNvGrpSpPr/>
        <p:nvPr/>
      </p:nvGrpSpPr>
      <p:grpSpPr>
        <a:xfrm>
          <a:off x="0" y="0"/>
          <a:ext cx="0" cy="0"/>
          <a:chOff x="0" y="0"/>
          <a:chExt cx="0" cy="0"/>
        </a:xfrm>
      </p:grpSpPr>
      <p:sp>
        <p:nvSpPr>
          <p:cNvPr id="3" name="Text 0"/>
          <p:cNvSpPr/>
          <p:nvPr/>
        </p:nvSpPr>
        <p:spPr>
          <a:xfrm>
            <a:off x="685800" y="384048"/>
            <a:ext cx="10817352" cy="274320"/>
          </a:xfrm>
          <a:prstGeom prst="rect">
            <a:avLst/>
          </a:prstGeom>
          <a:noFill/>
          <a:ln/>
        </p:spPr>
        <p:txBody>
          <a:bodyPr wrap="square" rtlCol="0" anchor="ctr"/>
          <a:lstStyle/>
          <a:p>
            <a:pPr indent="0" marL="0">
              <a:buNone/>
            </a:pPr>
            <a:r>
              <a:rPr lang="en-US" sz="1300" b="1" spc="250" kern="0" dirty="0">
                <a:solidFill>
                  <a:srgbClr val="F2F3F5"/>
                </a:solidFill>
                <a:latin typeface="Arial" pitchFamily="34" charset="0"/>
                <a:ea typeface="Arial" pitchFamily="34" charset="-122"/>
                <a:cs typeface="Arial" pitchFamily="34" charset="-120"/>
              </a:rPr>
              <a:t>MODELO DE NEGOCIO</a:t>
            </a:r>
            <a:endParaRPr lang="en-US" sz="1300" dirty="0"/>
          </a:p>
        </p:txBody>
      </p:sp>
      <p:sp>
        <p:nvSpPr>
          <p:cNvPr id="4" name="Text 1"/>
          <p:cNvSpPr/>
          <p:nvPr/>
        </p:nvSpPr>
        <p:spPr>
          <a:xfrm>
            <a:off x="685800" y="685800"/>
            <a:ext cx="10817352" cy="274320"/>
          </a:xfrm>
          <a:prstGeom prst="rect">
            <a:avLst/>
          </a:prstGeom>
          <a:noFill/>
          <a:ln/>
        </p:spPr>
        <p:txBody>
          <a:bodyPr wrap="square" rtlCol="0" anchor="ctr"/>
          <a:lstStyle/>
          <a:p>
            <a:pPr indent="0" marL="0">
              <a:buNone/>
            </a:pPr>
            <a:r>
              <a:rPr lang="en-US" sz="1300" dirty="0">
                <a:solidFill>
                  <a:srgbClr val="8A93A6"/>
                </a:solidFill>
                <a:latin typeface="Arial" pitchFamily="34" charset="0"/>
                <a:ea typeface="Arial" pitchFamily="34" charset="-122"/>
                <a:cs typeface="Arial" pitchFamily="34" charset="-120"/>
              </a:rPr>
              <a:t>Cómo se monetiza — en dos fases.</a:t>
            </a:r>
            <a:endParaRPr lang="en-US" sz="1300" dirty="0"/>
          </a:p>
        </p:txBody>
      </p:sp>
      <p:sp>
        <p:nvSpPr>
          <p:cNvPr id="5" name="Shape 2"/>
          <p:cNvSpPr/>
          <p:nvPr/>
        </p:nvSpPr>
        <p:spPr>
          <a:xfrm>
            <a:off x="685800" y="1078992"/>
            <a:ext cx="10817352" cy="10973"/>
          </a:xfrm>
          <a:prstGeom prst="rect">
            <a:avLst/>
          </a:prstGeom>
          <a:solidFill>
            <a:srgbClr val="2A303C"/>
          </a:solidFill>
          <a:ln w="12700">
            <a:solidFill>
              <a:srgbClr val="333333"/>
            </a:solidFill>
            <a:prstDash val="solid"/>
          </a:ln>
        </p:spPr>
      </p:sp>
      <p:sp>
        <p:nvSpPr>
          <p:cNvPr id="6" name="Shape 3"/>
          <p:cNvSpPr/>
          <p:nvPr/>
        </p:nvSpPr>
        <p:spPr>
          <a:xfrm>
            <a:off x="685800" y="1417320"/>
            <a:ext cx="5303520" cy="2286000"/>
          </a:xfrm>
          <a:prstGeom prst="roundRect">
            <a:avLst>
              <a:gd name="adj" fmla="val 2400"/>
            </a:avLst>
          </a:prstGeom>
          <a:solidFill>
            <a:srgbClr val="161A22"/>
          </a:solidFill>
          <a:ln w="12700">
            <a:solidFill>
              <a:srgbClr val="2A303C"/>
            </a:solidFill>
            <a:prstDash val="solid"/>
          </a:ln>
        </p:spPr>
      </p:sp>
      <p:sp>
        <p:nvSpPr>
          <p:cNvPr id="7" name="Text 4"/>
          <p:cNvSpPr/>
          <p:nvPr/>
        </p:nvSpPr>
        <p:spPr>
          <a:xfrm>
            <a:off x="1051560" y="1627632"/>
            <a:ext cx="4572000" cy="274320"/>
          </a:xfrm>
          <a:prstGeom prst="rect">
            <a:avLst/>
          </a:prstGeom>
          <a:noFill/>
          <a:ln/>
        </p:spPr>
        <p:txBody>
          <a:bodyPr wrap="square" rtlCol="0" anchor="ctr"/>
          <a:lstStyle/>
          <a:p>
            <a:pPr indent="0" marL="0">
              <a:buNone/>
            </a:pPr>
            <a:r>
              <a:rPr lang="en-US" sz="1200" b="1" spc="150" kern="0" dirty="0">
                <a:solidFill>
                  <a:srgbClr val="FF6A2C"/>
                </a:solidFill>
                <a:latin typeface="Arial" pitchFamily="34" charset="0"/>
                <a:ea typeface="Arial" pitchFamily="34" charset="-122"/>
                <a:cs typeface="Arial" pitchFamily="34" charset="-120"/>
              </a:rPr>
              <a:t>FASE 1 — HOY</a:t>
            </a:r>
            <a:endParaRPr lang="en-US" sz="1200" dirty="0"/>
          </a:p>
        </p:txBody>
      </p:sp>
      <p:sp>
        <p:nvSpPr>
          <p:cNvPr id="8" name="Text 5"/>
          <p:cNvSpPr/>
          <p:nvPr/>
        </p:nvSpPr>
        <p:spPr>
          <a:xfrm>
            <a:off x="1051560" y="1965960"/>
            <a:ext cx="4572000" cy="292608"/>
          </a:xfrm>
          <a:prstGeom prst="rect">
            <a:avLst/>
          </a:prstGeom>
          <a:noFill/>
          <a:ln/>
        </p:spPr>
        <p:txBody>
          <a:bodyPr wrap="square" rtlCol="0" anchor="ctr"/>
          <a:lstStyle/>
          <a:p>
            <a:pPr indent="0" marL="0">
              <a:buNone/>
            </a:pPr>
            <a:r>
              <a:rPr lang="en-US" sz="1600" b="1" dirty="0">
                <a:solidFill>
                  <a:srgbClr val="F2F3F5"/>
                </a:solidFill>
                <a:latin typeface="Arial" pitchFamily="34" charset="0"/>
                <a:ea typeface="Arial" pitchFamily="34" charset="-122"/>
                <a:cs typeface="Arial" pitchFamily="34" charset="-120"/>
              </a:rPr>
              <a:t>16 licencias de creador</a:t>
            </a:r>
            <a:endParaRPr lang="en-US" sz="1600" dirty="0"/>
          </a:p>
        </p:txBody>
      </p:sp>
      <p:sp>
        <p:nvSpPr>
          <p:cNvPr id="9" name="Text 6"/>
          <p:cNvSpPr/>
          <p:nvPr/>
        </p:nvSpPr>
        <p:spPr>
          <a:xfrm>
            <a:off x="1051560" y="2286000"/>
            <a:ext cx="4572000" cy="777240"/>
          </a:xfrm>
          <a:prstGeom prst="rect">
            <a:avLst/>
          </a:prstGeom>
          <a:noFill/>
          <a:ln/>
        </p:spPr>
        <p:txBody>
          <a:bodyPr wrap="square" rtlCol="0" anchor="ctr"/>
          <a:lstStyle/>
          <a:p>
            <a:pPr indent="0" marL="0">
              <a:lnSpc>
                <a:spcPts val="1600"/>
              </a:lnSpc>
              <a:buNone/>
            </a:pPr>
            <a:r>
              <a:rPr lang="en-US" sz="1150" dirty="0">
                <a:solidFill>
                  <a:srgbClr val="8A93A6"/>
                </a:solidFill>
                <a:latin typeface="Arial" pitchFamily="34" charset="0"/>
                <a:ea typeface="Arial" pitchFamily="34" charset="-122"/>
                <a:cs typeface="Arial" pitchFamily="34" charset="-120"/>
              </a:rPr>
              <a:t>Las bolitas «especiales» hospedan carreras, cobran</a:t>
            </a:r>
            <a:endParaRPr lang="en-US" sz="1150" dirty="0"/>
          </a:p>
          <a:p>
            <a:pPr indent="0" marL="0">
              <a:lnSpc>
                <a:spcPts val="1600"/>
              </a:lnSpc>
              <a:buNone/>
            </a:pPr>
            <a:r>
              <a:rPr lang="en-US" sz="1150" dirty="0">
                <a:solidFill>
                  <a:srgbClr val="8A93A6"/>
                </a:solidFill>
                <a:latin typeface="Arial" pitchFamily="34" charset="0"/>
                <a:ea typeface="Arial" pitchFamily="34" charset="-122"/>
                <a:cs typeface="Arial" pitchFamily="34" charset="-120"/>
              </a:rPr>
              <a:t>su corte y llevan estadísticas propias. Se venden o</a:t>
            </a:r>
            <a:endParaRPr lang="en-US" sz="1150" dirty="0"/>
          </a:p>
          <a:p>
            <a:pPr indent="0" marL="0">
              <a:lnSpc>
                <a:spcPts val="1600"/>
              </a:lnSpc>
              <a:buNone/>
            </a:pPr>
            <a:r>
              <a:rPr lang="en-US" sz="1150" dirty="0">
                <a:solidFill>
                  <a:srgbClr val="8A93A6"/>
                </a:solidFill>
                <a:latin typeface="Arial" pitchFamily="34" charset="0"/>
                <a:ea typeface="Arial" pitchFamily="34" charset="-122"/>
                <a:cs typeface="Arial" pitchFamily="34" charset="-120"/>
              </a:rPr>
              <a:t>licencian a streamers y creadores.</a:t>
            </a:r>
            <a:endParaRPr lang="en-US" sz="1150" dirty="0"/>
          </a:p>
        </p:txBody>
      </p:sp>
      <p:sp>
        <p:nvSpPr>
          <p:cNvPr id="10" name="Text 7"/>
          <p:cNvSpPr/>
          <p:nvPr/>
        </p:nvSpPr>
        <p:spPr>
          <a:xfrm>
            <a:off x="1051560" y="3182112"/>
            <a:ext cx="4572000" cy="274320"/>
          </a:xfrm>
          <a:prstGeom prst="rect">
            <a:avLst/>
          </a:prstGeom>
          <a:noFill/>
          <a:ln/>
        </p:spPr>
        <p:txBody>
          <a:bodyPr wrap="square" rtlCol="0" anchor="ctr"/>
          <a:lstStyle/>
          <a:p>
            <a:pPr indent="0" marL="0">
              <a:buNone/>
            </a:pPr>
            <a:r>
              <a:rPr lang="en-US" sz="1150" dirty="0">
                <a:solidFill>
                  <a:srgbClr val="F2F3F5"/>
                </a:solidFill>
                <a:latin typeface="Arial" pitchFamily="34" charset="0"/>
                <a:ea typeface="Arial" pitchFamily="34" charset="-122"/>
                <a:cs typeface="Arial" pitchFamily="34" charset="-120"/>
              </a:rPr>
              <a:t>Contenido — la carrera es el canal.</a:t>
            </a:r>
            <a:endParaRPr lang="en-US" sz="1150" dirty="0"/>
          </a:p>
        </p:txBody>
      </p:sp>
      <p:sp>
        <p:nvSpPr>
          <p:cNvPr id="11" name="Shape 8"/>
          <p:cNvSpPr/>
          <p:nvPr/>
        </p:nvSpPr>
        <p:spPr>
          <a:xfrm>
            <a:off x="6199632" y="1417320"/>
            <a:ext cx="5303520" cy="2286000"/>
          </a:xfrm>
          <a:prstGeom prst="roundRect">
            <a:avLst>
              <a:gd name="adj" fmla="val 2400"/>
            </a:avLst>
          </a:prstGeom>
          <a:solidFill>
            <a:srgbClr val="161A22"/>
          </a:solidFill>
          <a:ln w="12700">
            <a:solidFill>
              <a:srgbClr val="2A303C"/>
            </a:solidFill>
            <a:prstDash val="solid"/>
          </a:ln>
        </p:spPr>
      </p:sp>
      <p:sp>
        <p:nvSpPr>
          <p:cNvPr id="12" name="Text 9"/>
          <p:cNvSpPr/>
          <p:nvPr/>
        </p:nvSpPr>
        <p:spPr>
          <a:xfrm>
            <a:off x="6565392" y="1627632"/>
            <a:ext cx="4572000" cy="274320"/>
          </a:xfrm>
          <a:prstGeom prst="rect">
            <a:avLst/>
          </a:prstGeom>
          <a:noFill/>
          <a:ln/>
        </p:spPr>
        <p:txBody>
          <a:bodyPr wrap="square" rtlCol="0" anchor="ctr"/>
          <a:lstStyle/>
          <a:p>
            <a:pPr indent="0" marL="0">
              <a:buNone/>
            </a:pPr>
            <a:r>
              <a:rPr lang="en-US" sz="1200" b="1" spc="150" kern="0" dirty="0">
                <a:solidFill>
                  <a:srgbClr val="2FE0E0"/>
                </a:solidFill>
                <a:latin typeface="Arial" pitchFamily="34" charset="0"/>
                <a:ea typeface="Arial" pitchFamily="34" charset="-122"/>
                <a:cs typeface="Arial" pitchFamily="34" charset="-120"/>
              </a:rPr>
              <a:t>FASE 2 — «APOSTÁ LO QUE GANASTE»</a:t>
            </a:r>
            <a:endParaRPr lang="en-US" sz="1200" dirty="0"/>
          </a:p>
        </p:txBody>
      </p:sp>
      <p:sp>
        <p:nvSpPr>
          <p:cNvPr id="13" name="Text 10"/>
          <p:cNvSpPr/>
          <p:nvPr/>
        </p:nvSpPr>
        <p:spPr>
          <a:xfrm>
            <a:off x="6565392" y="1965960"/>
            <a:ext cx="4572000" cy="292608"/>
          </a:xfrm>
          <a:prstGeom prst="rect">
            <a:avLst/>
          </a:prstGeom>
          <a:noFill/>
          <a:ln/>
        </p:spPr>
        <p:txBody>
          <a:bodyPr wrap="square" rtlCol="0" anchor="ctr"/>
          <a:lstStyle/>
          <a:p>
            <a:pPr indent="0" marL="0">
              <a:buNone/>
            </a:pPr>
            <a:r>
              <a:rPr lang="en-US" sz="1600" b="1" dirty="0">
                <a:solidFill>
                  <a:srgbClr val="F2F3F5"/>
                </a:solidFill>
                <a:latin typeface="Arial" pitchFamily="34" charset="0"/>
                <a:ea typeface="Arial" pitchFamily="34" charset="-122"/>
                <a:cs typeface="Arial" pitchFamily="34" charset="-120"/>
              </a:rPr>
              <a:t>El MRBL acumulado entra a las apuestas</a:t>
            </a:r>
            <a:endParaRPr lang="en-US" sz="1600" dirty="0"/>
          </a:p>
        </p:txBody>
      </p:sp>
      <p:sp>
        <p:nvSpPr>
          <p:cNvPr id="14" name="Text 11"/>
          <p:cNvSpPr/>
          <p:nvPr/>
        </p:nvSpPr>
        <p:spPr>
          <a:xfrm>
            <a:off x="6565392" y="2286000"/>
            <a:ext cx="4572000" cy="777240"/>
          </a:xfrm>
          <a:prstGeom prst="rect">
            <a:avLst/>
          </a:prstGeom>
          <a:noFill/>
          <a:ln/>
        </p:spPr>
        <p:txBody>
          <a:bodyPr wrap="square" rtlCol="0" anchor="ctr"/>
          <a:lstStyle/>
          <a:p>
            <a:pPr indent="0" marL="0">
              <a:lnSpc>
                <a:spcPts val="1600"/>
              </a:lnSpc>
              <a:buNone/>
            </a:pPr>
            <a:r>
              <a:rPr lang="en-US" sz="1150" dirty="0">
                <a:solidFill>
                  <a:srgbClr val="8A93A6"/>
                </a:solidFill>
                <a:latin typeface="Arial" pitchFamily="34" charset="0"/>
                <a:ea typeface="Arial" pitchFamily="34" charset="-122"/>
                <a:cs typeface="Arial" pitchFamily="34" charset="-120"/>
              </a:rPr>
              <a:t>El crédito que ganaste jugando entra a las apuestas</a:t>
            </a:r>
            <a:endParaRPr lang="en-US" sz="1150" dirty="0"/>
          </a:p>
          <a:p>
            <a:pPr indent="0" marL="0">
              <a:lnSpc>
                <a:spcPts val="1600"/>
              </a:lnSpc>
              <a:buNone/>
            </a:pPr>
            <a:r>
              <a:rPr lang="en-US" sz="1150" dirty="0">
                <a:solidFill>
                  <a:srgbClr val="8A93A6"/>
                </a:solidFill>
                <a:latin typeface="Arial" pitchFamily="34" charset="0"/>
                <a:ea typeface="Arial" pitchFamily="34" charset="-122"/>
                <a:cs typeface="Arial" pitchFamily="34" charset="-120"/>
              </a:rPr>
              <a:t>de la carrera física semanal de las 16 bolitas reales.</a:t>
            </a:r>
            <a:endParaRPr lang="en-US" sz="1150" dirty="0"/>
          </a:p>
          <a:p>
            <a:pPr indent="0" marL="0">
              <a:lnSpc>
                <a:spcPts val="1600"/>
              </a:lnSpc>
              <a:buNone/>
            </a:pPr>
            <a:r>
              <a:rPr lang="en-US" sz="1150" dirty="0">
                <a:solidFill>
                  <a:srgbClr val="8A93A6"/>
                </a:solidFill>
                <a:latin typeface="Arial" pitchFamily="34" charset="0"/>
                <a:ea typeface="Arial" pitchFamily="34" charset="-122"/>
                <a:cs typeface="Arial" pitchFamily="34" charset="-120"/>
              </a:rPr>
              <a:t>La casa toma un corte chico.</a:t>
            </a:r>
            <a:endParaRPr lang="en-US" sz="1150" dirty="0"/>
          </a:p>
        </p:txBody>
      </p:sp>
      <p:sp>
        <p:nvSpPr>
          <p:cNvPr id="15" name="Text 12"/>
          <p:cNvSpPr/>
          <p:nvPr/>
        </p:nvSpPr>
        <p:spPr>
          <a:xfrm>
            <a:off x="6565392" y="3182112"/>
            <a:ext cx="4572000" cy="274320"/>
          </a:xfrm>
          <a:prstGeom prst="rect">
            <a:avLst/>
          </a:prstGeom>
          <a:noFill/>
          <a:ln/>
        </p:spPr>
        <p:txBody>
          <a:bodyPr wrap="square" rtlCol="0" anchor="ctr"/>
          <a:lstStyle/>
          <a:p>
            <a:pPr indent="0" marL="0">
              <a:buNone/>
            </a:pPr>
            <a:r>
              <a:rPr lang="en-US" sz="1150" dirty="0">
                <a:solidFill>
                  <a:srgbClr val="F2F3F5"/>
                </a:solidFill>
                <a:latin typeface="Arial" pitchFamily="34" charset="0"/>
                <a:ea typeface="Arial" pitchFamily="34" charset="-122"/>
                <a:cs typeface="Arial" pitchFamily="34" charset="-120"/>
              </a:rPr>
              <a:t>El token pasa de crédito de arcade a tener mercado.</a:t>
            </a:r>
            <a:endParaRPr lang="en-US" sz="1150" dirty="0"/>
          </a:p>
        </p:txBody>
      </p:sp>
      <p:sp>
        <p:nvSpPr>
          <p:cNvPr id="16" name="Shape 13"/>
          <p:cNvSpPr/>
          <p:nvPr/>
        </p:nvSpPr>
        <p:spPr>
          <a:xfrm>
            <a:off x="685800" y="3977640"/>
            <a:ext cx="10817352" cy="1572768"/>
          </a:xfrm>
          <a:prstGeom prst="roundRect">
            <a:avLst>
              <a:gd name="adj" fmla="val 3488"/>
            </a:avLst>
          </a:prstGeom>
          <a:solidFill>
            <a:srgbClr val="161A22"/>
          </a:solidFill>
          <a:ln w="12700">
            <a:solidFill>
              <a:srgbClr val="2A303C"/>
            </a:solidFill>
            <a:prstDash val="solid"/>
          </a:ln>
        </p:spPr>
      </p:sp>
      <p:sp>
        <p:nvSpPr>
          <p:cNvPr id="17" name="Text 14"/>
          <p:cNvSpPr/>
          <p:nvPr/>
        </p:nvSpPr>
        <p:spPr>
          <a:xfrm>
            <a:off x="1097280" y="4224528"/>
            <a:ext cx="9994392" cy="384048"/>
          </a:xfrm>
          <a:prstGeom prst="rect">
            <a:avLst/>
          </a:prstGeom>
          <a:noFill/>
          <a:ln/>
        </p:spPr>
        <p:txBody>
          <a:bodyPr wrap="square" rtlCol="0" anchor="ctr"/>
          <a:lstStyle/>
          <a:p>
            <a:pPr indent="0" marL="0">
              <a:buNone/>
            </a:pPr>
            <a:r>
              <a:rPr lang="en-US" sz="2200" b="1" spc="100" kern="0" dirty="0">
                <a:solidFill>
                  <a:srgbClr val="FF6A2C"/>
                </a:solidFill>
                <a:latin typeface="Arial" pitchFamily="34" charset="0"/>
                <a:ea typeface="Arial" pitchFamily="34" charset="-122"/>
                <a:cs typeface="Arial" pitchFamily="34" charset="-120"/>
              </a:rPr>
              <a:t>SIN DEPÓSITO.  SIN ON-RAMP.</a:t>
            </a:r>
            <a:endParaRPr lang="en-US" sz="2200" dirty="0"/>
          </a:p>
        </p:txBody>
      </p:sp>
      <p:sp>
        <p:nvSpPr>
          <p:cNvPr id="18" name="Text 15"/>
          <p:cNvSpPr/>
          <p:nvPr/>
        </p:nvSpPr>
        <p:spPr>
          <a:xfrm>
            <a:off x="1097280" y="4681728"/>
            <a:ext cx="9994392" cy="365760"/>
          </a:xfrm>
          <a:prstGeom prst="rect">
            <a:avLst/>
          </a:prstGeom>
          <a:noFill/>
          <a:ln/>
        </p:spPr>
        <p:txBody>
          <a:bodyPr wrap="square" rtlCol="0" anchor="ctr"/>
          <a:lstStyle/>
          <a:p>
            <a:pPr indent="0" marL="0">
              <a:buNone/>
            </a:pPr>
            <a:r>
              <a:rPr lang="en-US" sz="1700" dirty="0">
                <a:solidFill>
                  <a:srgbClr val="F2F3F5"/>
                </a:solidFill>
                <a:latin typeface="Arial" pitchFamily="34" charset="0"/>
                <a:ea typeface="Arial" pitchFamily="34" charset="-122"/>
                <a:cs typeface="Arial" pitchFamily="34" charset="-120"/>
              </a:rPr>
              <a:t>Apostás lo que ganaste jugando, no lo que sacaste del bolsillo.</a:t>
            </a:r>
            <a:endParaRPr lang="en-US" sz="1700" dirty="0"/>
          </a:p>
        </p:txBody>
      </p:sp>
      <p:sp>
        <p:nvSpPr>
          <p:cNvPr id="19" name="Text 16"/>
          <p:cNvSpPr/>
          <p:nvPr/>
        </p:nvSpPr>
        <p:spPr>
          <a:xfrm>
            <a:off x="1097280" y="5047488"/>
            <a:ext cx="9994392" cy="320040"/>
          </a:xfrm>
          <a:prstGeom prst="rect">
            <a:avLst/>
          </a:prstGeom>
          <a:noFill/>
          <a:ln/>
        </p:spPr>
        <p:txBody>
          <a:bodyPr wrap="square" rtlCol="0" anchor="ctr"/>
          <a:lstStyle/>
          <a:p>
            <a:pPr indent="0" marL="0">
              <a:buNone/>
            </a:pPr>
            <a:r>
              <a:rPr lang="en-US" sz="1200" dirty="0">
                <a:solidFill>
                  <a:srgbClr val="8A93A6"/>
                </a:solidFill>
                <a:latin typeface="Arial" pitchFamily="34" charset="0"/>
                <a:ea typeface="Arial" pitchFamily="34" charset="-122"/>
                <a:cs typeface="Arial" pitchFamily="34" charset="-120"/>
              </a:rPr>
              <a:t>Nadie pone plata que no ganó adentro del juego. Eso no existe en ningún lado.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12"/>
        </a:solidFill>
      </p:bgPr>
    </p:bg>
    <p:spTree>
      <p:nvGrpSpPr>
        <p:cNvPr id="1" name=""/>
        <p:cNvGrpSpPr/>
        <p:nvPr/>
      </p:nvGrpSpPr>
      <p:grpSpPr>
        <a:xfrm>
          <a:off x="0" y="0"/>
          <a:ext cx="0" cy="0"/>
          <a:chOff x="0" y="0"/>
          <a:chExt cx="0" cy="0"/>
        </a:xfrm>
      </p:grpSpPr>
      <p:sp>
        <p:nvSpPr>
          <p:cNvPr id="3" name="Text 0"/>
          <p:cNvSpPr/>
          <p:nvPr/>
        </p:nvSpPr>
        <p:spPr>
          <a:xfrm>
            <a:off x="685800" y="384048"/>
            <a:ext cx="10817352" cy="274320"/>
          </a:xfrm>
          <a:prstGeom prst="rect">
            <a:avLst/>
          </a:prstGeom>
          <a:noFill/>
          <a:ln/>
        </p:spPr>
        <p:txBody>
          <a:bodyPr wrap="square" rtlCol="0" anchor="ctr"/>
          <a:lstStyle/>
          <a:p>
            <a:pPr indent="0" marL="0">
              <a:buNone/>
            </a:pPr>
            <a:r>
              <a:rPr lang="en-US" sz="1300" b="1" spc="250" kern="0" dirty="0">
                <a:solidFill>
                  <a:srgbClr val="F2F3F5"/>
                </a:solidFill>
                <a:latin typeface="Arial" pitchFamily="34" charset="0"/>
                <a:ea typeface="Arial" pitchFamily="34" charset="-122"/>
                <a:cs typeface="Arial" pitchFamily="34" charset="-120"/>
              </a:rPr>
              <a:t>COMPETENCIA</a:t>
            </a:r>
            <a:endParaRPr lang="en-US" sz="1300" dirty="0"/>
          </a:p>
        </p:txBody>
      </p:sp>
      <p:sp>
        <p:nvSpPr>
          <p:cNvPr id="4" name="Text 1"/>
          <p:cNvSpPr/>
          <p:nvPr/>
        </p:nvSpPr>
        <p:spPr>
          <a:xfrm>
            <a:off x="685800" y="685800"/>
            <a:ext cx="10817352" cy="274320"/>
          </a:xfrm>
          <a:prstGeom prst="rect">
            <a:avLst/>
          </a:prstGeom>
          <a:noFill/>
          <a:ln/>
        </p:spPr>
        <p:txBody>
          <a:bodyPr wrap="square" rtlCol="0" anchor="ctr"/>
          <a:lstStyle/>
          <a:p>
            <a:pPr indent="0" marL="0">
              <a:buNone/>
            </a:pPr>
            <a:r>
              <a:rPr lang="en-US" sz="1300" dirty="0">
                <a:solidFill>
                  <a:srgbClr val="8A93A6"/>
                </a:solidFill>
                <a:latin typeface="Arial" pitchFamily="34" charset="0"/>
                <a:ea typeface="Arial" pitchFamily="34" charset="-122"/>
                <a:cs typeface="Arial" pitchFamily="34" charset="-120"/>
              </a:rPr>
              <a:t>Por qué nosotros — el panorama, en tres ejes.</a:t>
            </a:r>
            <a:endParaRPr lang="en-US" sz="1300" dirty="0"/>
          </a:p>
        </p:txBody>
      </p:sp>
      <p:sp>
        <p:nvSpPr>
          <p:cNvPr id="5" name="Shape 2"/>
          <p:cNvSpPr/>
          <p:nvPr/>
        </p:nvSpPr>
        <p:spPr>
          <a:xfrm>
            <a:off x="685800" y="1078992"/>
            <a:ext cx="10817352" cy="10973"/>
          </a:xfrm>
          <a:prstGeom prst="rect">
            <a:avLst/>
          </a:prstGeom>
          <a:solidFill>
            <a:srgbClr val="2A303C"/>
          </a:solidFill>
          <a:ln w="12700">
            <a:solidFill>
              <a:srgbClr val="333333"/>
            </a:solidFill>
            <a:prstDash val="solid"/>
          </a:ln>
        </p:spPr>
      </p:sp>
      <p:sp>
        <p:nvSpPr>
          <p:cNvPr id="6" name="Text 3"/>
          <p:cNvSpPr/>
          <p:nvPr/>
        </p:nvSpPr>
        <p:spPr>
          <a:xfrm>
            <a:off x="5257800" y="1371600"/>
            <a:ext cx="2011680" cy="548640"/>
          </a:xfrm>
          <a:prstGeom prst="rect">
            <a:avLst/>
          </a:prstGeom>
          <a:noFill/>
          <a:ln/>
        </p:spPr>
        <p:txBody>
          <a:bodyPr wrap="square" rtlCol="0" anchor="ctr"/>
          <a:lstStyle/>
          <a:p>
            <a:pPr algn="ctr" indent="0" marL="0">
              <a:lnSpc>
                <a:spcPts val="1300"/>
              </a:lnSpc>
              <a:buNone/>
            </a:pPr>
            <a:r>
              <a:rPr lang="en-US" sz="1050" b="1" spc="80" kern="0" dirty="0">
                <a:solidFill>
                  <a:srgbClr val="8A93A6"/>
                </a:solidFill>
                <a:latin typeface="Arial" pitchFamily="34" charset="0"/>
                <a:ea typeface="Arial" pitchFamily="34" charset="-122"/>
                <a:cs typeface="Arial" pitchFamily="34" charset="-120"/>
              </a:rPr>
              <a:t>AUDIENCIA</a:t>
            </a:r>
            <a:endParaRPr lang="en-US" sz="1050" dirty="0"/>
          </a:p>
          <a:p>
            <a:pPr algn="ctr" indent="0" marL="0">
              <a:lnSpc>
                <a:spcPts val="1300"/>
              </a:lnSpc>
              <a:buNone/>
            </a:pPr>
            <a:r>
              <a:rPr lang="en-US" sz="1050" b="1" spc="80" kern="0" dirty="0">
                <a:solidFill>
                  <a:srgbClr val="8A93A6"/>
                </a:solidFill>
                <a:latin typeface="Arial" pitchFamily="34" charset="0"/>
                <a:ea typeface="Arial" pitchFamily="34" charset="-122"/>
                <a:cs typeface="Arial" pitchFamily="34" charset="-120"/>
              </a:rPr>
              <a:t>PROBADA</a:t>
            </a:r>
            <a:endParaRPr lang="en-US" sz="1050" dirty="0"/>
          </a:p>
        </p:txBody>
      </p:sp>
      <p:sp>
        <p:nvSpPr>
          <p:cNvPr id="7" name="Text 4"/>
          <p:cNvSpPr/>
          <p:nvPr/>
        </p:nvSpPr>
        <p:spPr>
          <a:xfrm>
            <a:off x="7342632" y="1371600"/>
            <a:ext cx="2011680" cy="548640"/>
          </a:xfrm>
          <a:prstGeom prst="rect">
            <a:avLst/>
          </a:prstGeom>
          <a:noFill/>
          <a:ln/>
        </p:spPr>
        <p:txBody>
          <a:bodyPr wrap="square" rtlCol="0" anchor="ctr"/>
          <a:lstStyle/>
          <a:p>
            <a:pPr algn="ctr" indent="0" marL="0">
              <a:lnSpc>
                <a:spcPts val="1300"/>
              </a:lnSpc>
              <a:buNone/>
            </a:pPr>
            <a:r>
              <a:rPr lang="en-US" sz="1050" b="1" spc="80" kern="0" dirty="0">
                <a:solidFill>
                  <a:srgbClr val="8A93A6"/>
                </a:solidFill>
                <a:latin typeface="Arial" pitchFamily="34" charset="0"/>
                <a:ea typeface="Arial" pitchFamily="34" charset="-122"/>
                <a:cs typeface="Arial" pitchFamily="34" charset="-120"/>
              </a:rPr>
              <a:t>PARTICIPACIÓN</a:t>
            </a:r>
            <a:endParaRPr lang="en-US" sz="1050" dirty="0"/>
          </a:p>
          <a:p>
            <a:pPr algn="ctr" indent="0" marL="0">
              <a:lnSpc>
                <a:spcPts val="1300"/>
              </a:lnSpc>
              <a:buNone/>
            </a:pPr>
            <a:r>
              <a:rPr lang="en-US" sz="1050" b="1" spc="80" kern="0" dirty="0">
                <a:solidFill>
                  <a:srgbClr val="8A93A6"/>
                </a:solidFill>
                <a:latin typeface="Arial" pitchFamily="34" charset="0"/>
                <a:ea typeface="Arial" pitchFamily="34" charset="-122"/>
                <a:cs typeface="Arial" pitchFamily="34" charset="-120"/>
              </a:rPr>
              <a:t>REAL</a:t>
            </a:r>
            <a:endParaRPr lang="en-US" sz="1050" dirty="0"/>
          </a:p>
        </p:txBody>
      </p:sp>
      <p:sp>
        <p:nvSpPr>
          <p:cNvPr id="8" name="Text 5"/>
          <p:cNvSpPr/>
          <p:nvPr/>
        </p:nvSpPr>
        <p:spPr>
          <a:xfrm>
            <a:off x="9427464" y="1371600"/>
            <a:ext cx="2075688" cy="548640"/>
          </a:xfrm>
          <a:prstGeom prst="rect">
            <a:avLst/>
          </a:prstGeom>
          <a:noFill/>
          <a:ln/>
        </p:spPr>
        <p:txBody>
          <a:bodyPr wrap="square" rtlCol="0" anchor="ctr"/>
          <a:lstStyle/>
          <a:p>
            <a:pPr algn="ctr" indent="0" marL="0">
              <a:lnSpc>
                <a:spcPts val="1300"/>
              </a:lnSpc>
              <a:buNone/>
            </a:pPr>
            <a:r>
              <a:rPr lang="en-US" sz="1050" b="1" spc="80" kern="0" dirty="0">
                <a:solidFill>
                  <a:srgbClr val="8A93A6"/>
                </a:solidFill>
                <a:latin typeface="Arial" pitchFamily="34" charset="0"/>
                <a:ea typeface="Arial" pitchFamily="34" charset="-122"/>
                <a:cs typeface="Arial" pitchFamily="34" charset="-120"/>
              </a:rPr>
              <a:t>RESULTADO</a:t>
            </a:r>
            <a:endParaRPr lang="en-US" sz="1050" dirty="0"/>
          </a:p>
          <a:p>
            <a:pPr algn="ctr" indent="0" marL="0">
              <a:lnSpc>
                <a:spcPts val="1300"/>
              </a:lnSpc>
              <a:buNone/>
            </a:pPr>
            <a:r>
              <a:rPr lang="en-US" sz="1050" b="1" spc="80" kern="0" dirty="0">
                <a:solidFill>
                  <a:srgbClr val="8A93A6"/>
                </a:solidFill>
                <a:latin typeface="Arial" pitchFamily="34" charset="0"/>
                <a:ea typeface="Arial" pitchFamily="34" charset="-122"/>
                <a:cs typeface="Arial" pitchFamily="34" charset="-120"/>
              </a:rPr>
              <a:t>VERIFICABLE</a:t>
            </a:r>
            <a:endParaRPr lang="en-US" sz="1050" dirty="0"/>
          </a:p>
        </p:txBody>
      </p:sp>
      <p:sp>
        <p:nvSpPr>
          <p:cNvPr id="9" name="Shape 6"/>
          <p:cNvSpPr/>
          <p:nvPr/>
        </p:nvSpPr>
        <p:spPr>
          <a:xfrm>
            <a:off x="685800" y="2057400"/>
            <a:ext cx="10817352" cy="777240"/>
          </a:xfrm>
          <a:prstGeom prst="roundRect">
            <a:avLst>
              <a:gd name="adj" fmla="val 7059"/>
            </a:avLst>
          </a:prstGeom>
          <a:solidFill>
            <a:srgbClr val="161A22"/>
          </a:solidFill>
          <a:ln w="12700">
            <a:solidFill>
              <a:srgbClr val="2A303C"/>
            </a:solidFill>
            <a:prstDash val="solid"/>
          </a:ln>
        </p:spPr>
      </p:sp>
      <p:sp>
        <p:nvSpPr>
          <p:cNvPr id="10" name="Text 7"/>
          <p:cNvSpPr/>
          <p:nvPr/>
        </p:nvSpPr>
        <p:spPr>
          <a:xfrm>
            <a:off x="1051560" y="2185416"/>
            <a:ext cx="4480560" cy="292608"/>
          </a:xfrm>
          <a:prstGeom prst="rect">
            <a:avLst/>
          </a:prstGeom>
          <a:noFill/>
          <a:ln/>
        </p:spPr>
        <p:txBody>
          <a:bodyPr wrap="square" rtlCol="0" anchor="ctr"/>
          <a:lstStyle/>
          <a:p>
            <a:pPr indent="0" marL="0">
              <a:buNone/>
            </a:pPr>
            <a:r>
              <a:rPr lang="en-US" sz="1400" b="1" dirty="0">
                <a:solidFill>
                  <a:srgbClr val="F2F3F5"/>
                </a:solidFill>
                <a:latin typeface="Arial" pitchFamily="34" charset="0"/>
                <a:ea typeface="Arial" pitchFamily="34" charset="-122"/>
                <a:cs typeface="Arial" pitchFamily="34" charset="-120"/>
              </a:rPr>
              <a:t>Contenido de bolitas</a:t>
            </a:r>
            <a:endParaRPr lang="en-US" sz="1400" dirty="0"/>
          </a:p>
        </p:txBody>
      </p:sp>
      <p:sp>
        <p:nvSpPr>
          <p:cNvPr id="11" name="Text 8"/>
          <p:cNvSpPr/>
          <p:nvPr/>
        </p:nvSpPr>
        <p:spPr>
          <a:xfrm>
            <a:off x="1051560" y="2478024"/>
            <a:ext cx="4480560" cy="256032"/>
          </a:xfrm>
          <a:prstGeom prst="rect">
            <a:avLst/>
          </a:prstGeom>
          <a:noFill/>
          <a:ln/>
        </p:spPr>
        <p:txBody>
          <a:bodyPr wrap="square" rtlCol="0" anchor="ctr"/>
          <a:lstStyle/>
          <a:p>
            <a:pPr indent="0" marL="0">
              <a:buNone/>
            </a:pPr>
            <a:r>
              <a:rPr lang="en-US" sz="1050" dirty="0">
                <a:solidFill>
                  <a:srgbClr val="8A93A6"/>
                </a:solidFill>
                <a:latin typeface="Arial" pitchFamily="34" charset="0"/>
                <a:ea typeface="Arial" pitchFamily="34" charset="-122"/>
                <a:cs typeface="Arial" pitchFamily="34" charset="-120"/>
              </a:rPr>
              <a:t>YouTube, TV</a:t>
            </a:r>
            <a:endParaRPr lang="en-US" sz="1050" dirty="0"/>
          </a:p>
        </p:txBody>
      </p:sp>
      <p:sp>
        <p:nvSpPr>
          <p:cNvPr id="12" name="Text 9"/>
          <p:cNvSpPr/>
          <p:nvPr/>
        </p:nvSpPr>
        <p:spPr>
          <a:xfrm>
            <a:off x="5257800" y="2057400"/>
            <a:ext cx="2011680" cy="777240"/>
          </a:xfrm>
          <a:prstGeom prst="rect">
            <a:avLst/>
          </a:prstGeom>
          <a:noFill/>
          <a:ln/>
        </p:spPr>
        <p:txBody>
          <a:bodyPr wrap="square" rtlCol="0" anchor="ctr"/>
          <a:lstStyle/>
          <a:p>
            <a:pPr algn="ctr" indent="0" marL="0">
              <a:buNone/>
            </a:pPr>
            <a:r>
              <a:rPr lang="en-US" sz="2100" b="1" dirty="0">
                <a:solidFill>
                  <a:srgbClr val="F2F3F5"/>
                </a:solidFill>
                <a:latin typeface="Arial" pitchFamily="34" charset="0"/>
                <a:ea typeface="Arial" pitchFamily="34" charset="-122"/>
                <a:cs typeface="Arial" pitchFamily="34" charset="-120"/>
              </a:rPr>
              <a:t>✓</a:t>
            </a:r>
            <a:endParaRPr lang="en-US" sz="2100" dirty="0"/>
          </a:p>
        </p:txBody>
      </p:sp>
      <p:sp>
        <p:nvSpPr>
          <p:cNvPr id="13" name="Text 10"/>
          <p:cNvSpPr/>
          <p:nvPr/>
        </p:nvSpPr>
        <p:spPr>
          <a:xfrm>
            <a:off x="7342632" y="2057400"/>
            <a:ext cx="2011680" cy="777240"/>
          </a:xfrm>
          <a:prstGeom prst="rect">
            <a:avLst/>
          </a:prstGeom>
          <a:noFill/>
          <a:ln/>
        </p:spPr>
        <p:txBody>
          <a:bodyPr wrap="square" rtlCol="0" anchor="ctr"/>
          <a:lstStyle/>
          <a:p>
            <a:pPr algn="ctr" indent="0" marL="0">
              <a:buNone/>
            </a:pPr>
            <a:r>
              <a:rPr lang="en-US" sz="1700" b="1" dirty="0">
                <a:solidFill>
                  <a:srgbClr val="5A6172"/>
                </a:solidFill>
                <a:latin typeface="Arial" pitchFamily="34" charset="0"/>
                <a:ea typeface="Arial" pitchFamily="34" charset="-122"/>
                <a:cs typeface="Arial" pitchFamily="34" charset="-120"/>
              </a:rPr>
              <a:t>✕</a:t>
            </a:r>
            <a:endParaRPr lang="en-US" sz="1700" dirty="0"/>
          </a:p>
        </p:txBody>
      </p:sp>
      <p:sp>
        <p:nvSpPr>
          <p:cNvPr id="14" name="Text 11"/>
          <p:cNvSpPr/>
          <p:nvPr/>
        </p:nvSpPr>
        <p:spPr>
          <a:xfrm>
            <a:off x="9427464" y="2057400"/>
            <a:ext cx="2075688" cy="777240"/>
          </a:xfrm>
          <a:prstGeom prst="rect">
            <a:avLst/>
          </a:prstGeom>
          <a:noFill/>
          <a:ln/>
        </p:spPr>
        <p:txBody>
          <a:bodyPr wrap="square" rtlCol="0" anchor="ctr"/>
          <a:lstStyle/>
          <a:p>
            <a:pPr algn="ctr" indent="0" marL="0">
              <a:buNone/>
            </a:pPr>
            <a:r>
              <a:rPr lang="en-US" sz="1700" b="1" dirty="0">
                <a:solidFill>
                  <a:srgbClr val="5A6172"/>
                </a:solidFill>
                <a:latin typeface="Arial" pitchFamily="34" charset="0"/>
                <a:ea typeface="Arial" pitchFamily="34" charset="-122"/>
                <a:cs typeface="Arial" pitchFamily="34" charset="-120"/>
              </a:rPr>
              <a:t>✕</a:t>
            </a:r>
            <a:endParaRPr lang="en-US" sz="1700" dirty="0"/>
          </a:p>
        </p:txBody>
      </p:sp>
      <p:sp>
        <p:nvSpPr>
          <p:cNvPr id="15" name="Shape 12"/>
          <p:cNvSpPr/>
          <p:nvPr/>
        </p:nvSpPr>
        <p:spPr>
          <a:xfrm>
            <a:off x="685800" y="2953512"/>
            <a:ext cx="10817352" cy="777240"/>
          </a:xfrm>
          <a:prstGeom prst="roundRect">
            <a:avLst>
              <a:gd name="adj" fmla="val 7059"/>
            </a:avLst>
          </a:prstGeom>
          <a:solidFill>
            <a:srgbClr val="161A22"/>
          </a:solidFill>
          <a:ln w="12700">
            <a:solidFill>
              <a:srgbClr val="2A303C"/>
            </a:solidFill>
            <a:prstDash val="solid"/>
          </a:ln>
        </p:spPr>
      </p:sp>
      <p:sp>
        <p:nvSpPr>
          <p:cNvPr id="16" name="Text 13"/>
          <p:cNvSpPr/>
          <p:nvPr/>
        </p:nvSpPr>
        <p:spPr>
          <a:xfrm>
            <a:off x="1051560" y="3081528"/>
            <a:ext cx="4480560" cy="292608"/>
          </a:xfrm>
          <a:prstGeom prst="rect">
            <a:avLst/>
          </a:prstGeom>
          <a:noFill/>
          <a:ln/>
        </p:spPr>
        <p:txBody>
          <a:bodyPr wrap="square" rtlCol="0" anchor="ctr"/>
          <a:lstStyle/>
          <a:p>
            <a:pPr indent="0" marL="0">
              <a:buNone/>
            </a:pPr>
            <a:r>
              <a:rPr lang="en-US" sz="1400" b="1" dirty="0">
                <a:solidFill>
                  <a:srgbClr val="F2F3F5"/>
                </a:solidFill>
                <a:latin typeface="Arial" pitchFamily="34" charset="0"/>
                <a:ea typeface="Arial" pitchFamily="34" charset="-122"/>
                <a:cs typeface="Arial" pitchFamily="34" charset="-120"/>
              </a:rPr>
              <a:t>Juegos de azar onchain</a:t>
            </a:r>
            <a:endParaRPr lang="en-US" sz="1400" dirty="0"/>
          </a:p>
        </p:txBody>
      </p:sp>
      <p:sp>
        <p:nvSpPr>
          <p:cNvPr id="17" name="Text 14"/>
          <p:cNvSpPr/>
          <p:nvPr/>
        </p:nvSpPr>
        <p:spPr>
          <a:xfrm>
            <a:off x="1051560" y="3374136"/>
            <a:ext cx="4480560" cy="256032"/>
          </a:xfrm>
          <a:prstGeom prst="rect">
            <a:avLst/>
          </a:prstGeom>
          <a:noFill/>
          <a:ln/>
        </p:spPr>
        <p:txBody>
          <a:bodyPr wrap="square" rtlCol="0" anchor="ctr"/>
          <a:lstStyle/>
          <a:p>
            <a:pPr indent="0" marL="0">
              <a:buNone/>
            </a:pPr>
            <a:r>
              <a:rPr lang="en-US" sz="1050" dirty="0">
                <a:solidFill>
                  <a:srgbClr val="8A93A6"/>
                </a:solidFill>
                <a:latin typeface="Arial" pitchFamily="34" charset="0"/>
                <a:ea typeface="Arial" pitchFamily="34" charset="-122"/>
                <a:cs typeface="Arial" pitchFamily="34" charset="-120"/>
              </a:rPr>
              <a:t>dados, loterías, PvP</a:t>
            </a:r>
            <a:endParaRPr lang="en-US" sz="1050" dirty="0"/>
          </a:p>
        </p:txBody>
      </p:sp>
      <p:sp>
        <p:nvSpPr>
          <p:cNvPr id="18" name="Text 15"/>
          <p:cNvSpPr/>
          <p:nvPr/>
        </p:nvSpPr>
        <p:spPr>
          <a:xfrm>
            <a:off x="5257800" y="2953512"/>
            <a:ext cx="2011680" cy="777240"/>
          </a:xfrm>
          <a:prstGeom prst="rect">
            <a:avLst/>
          </a:prstGeom>
          <a:noFill/>
          <a:ln/>
        </p:spPr>
        <p:txBody>
          <a:bodyPr wrap="square" rtlCol="0" anchor="ctr"/>
          <a:lstStyle/>
          <a:p>
            <a:pPr algn="ctr" indent="0" marL="0">
              <a:buNone/>
            </a:pPr>
            <a:r>
              <a:rPr lang="en-US" sz="1700" b="1" dirty="0">
                <a:solidFill>
                  <a:srgbClr val="5A6172"/>
                </a:solidFill>
                <a:latin typeface="Arial" pitchFamily="34" charset="0"/>
                <a:ea typeface="Arial" pitchFamily="34" charset="-122"/>
                <a:cs typeface="Arial" pitchFamily="34" charset="-120"/>
              </a:rPr>
              <a:t>✕</a:t>
            </a:r>
            <a:endParaRPr lang="en-US" sz="1700" dirty="0"/>
          </a:p>
        </p:txBody>
      </p:sp>
      <p:sp>
        <p:nvSpPr>
          <p:cNvPr id="19" name="Text 16"/>
          <p:cNvSpPr/>
          <p:nvPr/>
        </p:nvSpPr>
        <p:spPr>
          <a:xfrm>
            <a:off x="7342632" y="2953512"/>
            <a:ext cx="2011680" cy="777240"/>
          </a:xfrm>
          <a:prstGeom prst="rect">
            <a:avLst/>
          </a:prstGeom>
          <a:noFill/>
          <a:ln/>
        </p:spPr>
        <p:txBody>
          <a:bodyPr wrap="square" rtlCol="0" anchor="ctr"/>
          <a:lstStyle/>
          <a:p>
            <a:pPr algn="ctr" indent="0" marL="0">
              <a:buNone/>
            </a:pPr>
            <a:r>
              <a:rPr lang="en-US" sz="2100" b="1" dirty="0">
                <a:solidFill>
                  <a:srgbClr val="F2F3F5"/>
                </a:solidFill>
                <a:latin typeface="Arial" pitchFamily="34" charset="0"/>
                <a:ea typeface="Arial" pitchFamily="34" charset="-122"/>
                <a:cs typeface="Arial" pitchFamily="34" charset="-120"/>
              </a:rPr>
              <a:t>✓</a:t>
            </a:r>
            <a:endParaRPr lang="en-US" sz="2100" dirty="0"/>
          </a:p>
        </p:txBody>
      </p:sp>
      <p:sp>
        <p:nvSpPr>
          <p:cNvPr id="20" name="Text 17"/>
          <p:cNvSpPr/>
          <p:nvPr/>
        </p:nvSpPr>
        <p:spPr>
          <a:xfrm>
            <a:off x="9427464" y="2953512"/>
            <a:ext cx="2075688" cy="777240"/>
          </a:xfrm>
          <a:prstGeom prst="rect">
            <a:avLst/>
          </a:prstGeom>
          <a:noFill/>
          <a:ln/>
        </p:spPr>
        <p:txBody>
          <a:bodyPr wrap="square" rtlCol="0" anchor="ctr"/>
          <a:lstStyle/>
          <a:p>
            <a:pPr algn="ctr" indent="0" marL="0">
              <a:buNone/>
            </a:pPr>
            <a:r>
              <a:rPr lang="en-US" sz="2100" b="1" dirty="0">
                <a:solidFill>
                  <a:srgbClr val="F2F3F5"/>
                </a:solidFill>
                <a:latin typeface="Arial" pitchFamily="34" charset="0"/>
                <a:ea typeface="Arial" pitchFamily="34" charset="-122"/>
                <a:cs typeface="Arial" pitchFamily="34" charset="-120"/>
              </a:rPr>
              <a:t>✓</a:t>
            </a:r>
            <a:endParaRPr lang="en-US" sz="2100" dirty="0"/>
          </a:p>
        </p:txBody>
      </p:sp>
      <p:sp>
        <p:nvSpPr>
          <p:cNvPr id="21" name="Shape 18"/>
          <p:cNvSpPr/>
          <p:nvPr/>
        </p:nvSpPr>
        <p:spPr>
          <a:xfrm>
            <a:off x="685800" y="3849624"/>
            <a:ext cx="10817352" cy="777240"/>
          </a:xfrm>
          <a:prstGeom prst="roundRect">
            <a:avLst>
              <a:gd name="adj" fmla="val 7059"/>
            </a:avLst>
          </a:prstGeom>
          <a:solidFill>
            <a:srgbClr val="161A22"/>
          </a:solidFill>
          <a:ln w="12700">
            <a:solidFill>
              <a:srgbClr val="2A303C"/>
            </a:solidFill>
            <a:prstDash val="solid"/>
          </a:ln>
        </p:spPr>
      </p:sp>
      <p:sp>
        <p:nvSpPr>
          <p:cNvPr id="22" name="Text 19"/>
          <p:cNvSpPr/>
          <p:nvPr/>
        </p:nvSpPr>
        <p:spPr>
          <a:xfrm>
            <a:off x="1051560" y="3977640"/>
            <a:ext cx="4480560" cy="292608"/>
          </a:xfrm>
          <a:prstGeom prst="rect">
            <a:avLst/>
          </a:prstGeom>
          <a:noFill/>
          <a:ln/>
        </p:spPr>
        <p:txBody>
          <a:bodyPr wrap="square" rtlCol="0" anchor="ctr"/>
          <a:lstStyle/>
          <a:p>
            <a:pPr indent="0" marL="0">
              <a:buNone/>
            </a:pPr>
            <a:r>
              <a:rPr lang="en-US" sz="1400" b="1" dirty="0">
                <a:solidFill>
                  <a:srgbClr val="F2F3F5"/>
                </a:solidFill>
                <a:latin typeface="Arial" pitchFamily="34" charset="0"/>
                <a:ea typeface="Arial" pitchFamily="34" charset="-122"/>
                <a:cs typeface="Arial" pitchFamily="34" charset="-120"/>
              </a:rPr>
              <a:t>Apuestas web2</a:t>
            </a:r>
            <a:endParaRPr lang="en-US" sz="1400" dirty="0"/>
          </a:p>
        </p:txBody>
      </p:sp>
      <p:sp>
        <p:nvSpPr>
          <p:cNvPr id="23" name="Text 20"/>
          <p:cNvSpPr/>
          <p:nvPr/>
        </p:nvSpPr>
        <p:spPr>
          <a:xfrm>
            <a:off x="1051560" y="4270248"/>
            <a:ext cx="4480560" cy="256032"/>
          </a:xfrm>
          <a:prstGeom prst="rect">
            <a:avLst/>
          </a:prstGeom>
          <a:noFill/>
          <a:ln/>
        </p:spPr>
        <p:txBody>
          <a:bodyPr wrap="square" rtlCol="0" anchor="ctr"/>
          <a:lstStyle/>
          <a:p>
            <a:pPr indent="0" marL="0">
              <a:buNone/>
            </a:pPr>
            <a:r>
              <a:rPr lang="en-US" sz="1050" dirty="0">
                <a:solidFill>
                  <a:srgbClr val="8A93A6"/>
                </a:solidFill>
                <a:latin typeface="Arial" pitchFamily="34" charset="0"/>
                <a:ea typeface="Arial" pitchFamily="34" charset="-122"/>
                <a:cs typeface="Arial" pitchFamily="34" charset="-120"/>
              </a:rPr>
              <a:t>casas tradicionales</a:t>
            </a:r>
            <a:endParaRPr lang="en-US" sz="1050" dirty="0"/>
          </a:p>
        </p:txBody>
      </p:sp>
      <p:sp>
        <p:nvSpPr>
          <p:cNvPr id="24" name="Text 21"/>
          <p:cNvSpPr/>
          <p:nvPr/>
        </p:nvSpPr>
        <p:spPr>
          <a:xfrm>
            <a:off x="5257800" y="3849624"/>
            <a:ext cx="2011680" cy="777240"/>
          </a:xfrm>
          <a:prstGeom prst="rect">
            <a:avLst/>
          </a:prstGeom>
          <a:noFill/>
          <a:ln/>
        </p:spPr>
        <p:txBody>
          <a:bodyPr wrap="square" rtlCol="0" anchor="ctr"/>
          <a:lstStyle/>
          <a:p>
            <a:pPr algn="ctr" indent="0" marL="0">
              <a:buNone/>
            </a:pPr>
            <a:r>
              <a:rPr lang="en-US" sz="2100" b="1" dirty="0">
                <a:solidFill>
                  <a:srgbClr val="F2F3F5"/>
                </a:solidFill>
                <a:latin typeface="Arial" pitchFamily="34" charset="0"/>
                <a:ea typeface="Arial" pitchFamily="34" charset="-122"/>
                <a:cs typeface="Arial" pitchFamily="34" charset="-120"/>
              </a:rPr>
              <a:t>✓</a:t>
            </a:r>
            <a:endParaRPr lang="en-US" sz="2100" dirty="0"/>
          </a:p>
        </p:txBody>
      </p:sp>
      <p:sp>
        <p:nvSpPr>
          <p:cNvPr id="25" name="Text 22"/>
          <p:cNvSpPr/>
          <p:nvPr/>
        </p:nvSpPr>
        <p:spPr>
          <a:xfrm>
            <a:off x="7342632" y="3849624"/>
            <a:ext cx="2011680" cy="777240"/>
          </a:xfrm>
          <a:prstGeom prst="rect">
            <a:avLst/>
          </a:prstGeom>
          <a:noFill/>
          <a:ln/>
        </p:spPr>
        <p:txBody>
          <a:bodyPr wrap="square" rtlCol="0" anchor="ctr"/>
          <a:lstStyle/>
          <a:p>
            <a:pPr algn="ctr" indent="0" marL="0">
              <a:buNone/>
            </a:pPr>
            <a:r>
              <a:rPr lang="en-US" sz="2100" b="1" dirty="0">
                <a:solidFill>
                  <a:srgbClr val="F2F3F5"/>
                </a:solidFill>
                <a:latin typeface="Arial" pitchFamily="34" charset="0"/>
                <a:ea typeface="Arial" pitchFamily="34" charset="-122"/>
                <a:cs typeface="Arial" pitchFamily="34" charset="-120"/>
              </a:rPr>
              <a:t>✓</a:t>
            </a:r>
            <a:endParaRPr lang="en-US" sz="2100" dirty="0"/>
          </a:p>
        </p:txBody>
      </p:sp>
      <p:sp>
        <p:nvSpPr>
          <p:cNvPr id="26" name="Text 23"/>
          <p:cNvSpPr/>
          <p:nvPr/>
        </p:nvSpPr>
        <p:spPr>
          <a:xfrm>
            <a:off x="9427464" y="3849624"/>
            <a:ext cx="2075688" cy="777240"/>
          </a:xfrm>
          <a:prstGeom prst="rect">
            <a:avLst/>
          </a:prstGeom>
          <a:noFill/>
          <a:ln/>
        </p:spPr>
        <p:txBody>
          <a:bodyPr wrap="square" rtlCol="0" anchor="ctr"/>
          <a:lstStyle/>
          <a:p>
            <a:pPr algn="ctr" indent="0" marL="0">
              <a:buNone/>
            </a:pPr>
            <a:r>
              <a:rPr lang="en-US" sz="1700" b="1" dirty="0">
                <a:solidFill>
                  <a:srgbClr val="5A6172"/>
                </a:solidFill>
                <a:latin typeface="Arial" pitchFamily="34" charset="0"/>
                <a:ea typeface="Arial" pitchFamily="34" charset="-122"/>
                <a:cs typeface="Arial" pitchFamily="34" charset="-120"/>
              </a:rPr>
              <a:t>✕</a:t>
            </a:r>
            <a:endParaRPr lang="en-US" sz="1700" dirty="0"/>
          </a:p>
        </p:txBody>
      </p:sp>
      <p:sp>
        <p:nvSpPr>
          <p:cNvPr id="27" name="Shape 24"/>
          <p:cNvSpPr/>
          <p:nvPr/>
        </p:nvSpPr>
        <p:spPr>
          <a:xfrm>
            <a:off x="685800" y="4745736"/>
            <a:ext cx="10817352" cy="777240"/>
          </a:xfrm>
          <a:prstGeom prst="roundRect">
            <a:avLst>
              <a:gd name="adj" fmla="val 7059"/>
            </a:avLst>
          </a:prstGeom>
          <a:solidFill>
            <a:srgbClr val="12241C"/>
          </a:solidFill>
          <a:ln w="12700">
            <a:solidFill>
              <a:srgbClr val="2A303C"/>
            </a:solidFill>
            <a:prstDash val="solid"/>
          </a:ln>
        </p:spPr>
      </p:sp>
      <p:sp>
        <p:nvSpPr>
          <p:cNvPr id="28" name="Shape 25"/>
          <p:cNvSpPr/>
          <p:nvPr/>
        </p:nvSpPr>
        <p:spPr>
          <a:xfrm>
            <a:off x="685800" y="4745736"/>
            <a:ext cx="50292" cy="777240"/>
          </a:xfrm>
          <a:prstGeom prst="rect">
            <a:avLst/>
          </a:prstGeom>
          <a:solidFill>
            <a:srgbClr val="44DC8A"/>
          </a:solidFill>
          <a:ln w="12700">
            <a:solidFill>
              <a:srgbClr val="333333"/>
            </a:solidFill>
            <a:prstDash val="solid"/>
          </a:ln>
        </p:spPr>
      </p:sp>
      <p:sp>
        <p:nvSpPr>
          <p:cNvPr id="29" name="Text 26"/>
          <p:cNvSpPr/>
          <p:nvPr/>
        </p:nvSpPr>
        <p:spPr>
          <a:xfrm>
            <a:off x="1051560" y="4983480"/>
            <a:ext cx="4480560" cy="292608"/>
          </a:xfrm>
          <a:prstGeom prst="rect">
            <a:avLst/>
          </a:prstGeom>
          <a:noFill/>
          <a:ln/>
        </p:spPr>
        <p:txBody>
          <a:bodyPr wrap="square" rtlCol="0" anchor="ctr"/>
          <a:lstStyle/>
          <a:p>
            <a:pPr indent="0" marL="0">
              <a:buNone/>
            </a:pPr>
            <a:r>
              <a:rPr lang="en-US" sz="1600" b="1" dirty="0">
                <a:solidFill>
                  <a:srgbClr val="44DC8A"/>
                </a:solidFill>
                <a:latin typeface="Arial" pitchFamily="34" charset="0"/>
                <a:ea typeface="Arial" pitchFamily="34" charset="-122"/>
                <a:cs typeface="Arial" pitchFamily="34" charset="-120"/>
              </a:rPr>
              <a:t>MARBLESS</a:t>
            </a:r>
            <a:endParaRPr lang="en-US" sz="1600" dirty="0"/>
          </a:p>
        </p:txBody>
      </p:sp>
      <p:sp>
        <p:nvSpPr>
          <p:cNvPr id="30" name="Text 27"/>
          <p:cNvSpPr/>
          <p:nvPr/>
        </p:nvSpPr>
        <p:spPr>
          <a:xfrm>
            <a:off x="5257800" y="4745736"/>
            <a:ext cx="2011680" cy="777240"/>
          </a:xfrm>
          <a:prstGeom prst="rect">
            <a:avLst/>
          </a:prstGeom>
          <a:noFill/>
          <a:ln/>
        </p:spPr>
        <p:txBody>
          <a:bodyPr wrap="square" rtlCol="0" anchor="ctr"/>
          <a:lstStyle/>
          <a:p>
            <a:pPr algn="ctr" indent="0" marL="0">
              <a:buNone/>
            </a:pPr>
            <a:r>
              <a:rPr lang="en-US" sz="2100" b="1" dirty="0">
                <a:solidFill>
                  <a:srgbClr val="44DC8A"/>
                </a:solidFill>
                <a:latin typeface="Arial" pitchFamily="34" charset="0"/>
                <a:ea typeface="Arial" pitchFamily="34" charset="-122"/>
                <a:cs typeface="Arial" pitchFamily="34" charset="-120"/>
              </a:rPr>
              <a:t>✓</a:t>
            </a:r>
            <a:endParaRPr lang="en-US" sz="2100" dirty="0"/>
          </a:p>
        </p:txBody>
      </p:sp>
      <p:sp>
        <p:nvSpPr>
          <p:cNvPr id="31" name="Text 28"/>
          <p:cNvSpPr/>
          <p:nvPr/>
        </p:nvSpPr>
        <p:spPr>
          <a:xfrm>
            <a:off x="7342632" y="4745736"/>
            <a:ext cx="2011680" cy="777240"/>
          </a:xfrm>
          <a:prstGeom prst="rect">
            <a:avLst/>
          </a:prstGeom>
          <a:noFill/>
          <a:ln/>
        </p:spPr>
        <p:txBody>
          <a:bodyPr wrap="square" rtlCol="0" anchor="ctr"/>
          <a:lstStyle/>
          <a:p>
            <a:pPr algn="ctr" indent="0" marL="0">
              <a:buNone/>
            </a:pPr>
            <a:r>
              <a:rPr lang="en-US" sz="2100" b="1" dirty="0">
                <a:solidFill>
                  <a:srgbClr val="44DC8A"/>
                </a:solidFill>
                <a:latin typeface="Arial" pitchFamily="34" charset="0"/>
                <a:ea typeface="Arial" pitchFamily="34" charset="-122"/>
                <a:cs typeface="Arial" pitchFamily="34" charset="-120"/>
              </a:rPr>
              <a:t>✓</a:t>
            </a:r>
            <a:endParaRPr lang="en-US" sz="2100" dirty="0"/>
          </a:p>
        </p:txBody>
      </p:sp>
      <p:sp>
        <p:nvSpPr>
          <p:cNvPr id="32" name="Text 29"/>
          <p:cNvSpPr/>
          <p:nvPr/>
        </p:nvSpPr>
        <p:spPr>
          <a:xfrm>
            <a:off x="9427464" y="4745736"/>
            <a:ext cx="2075688" cy="777240"/>
          </a:xfrm>
          <a:prstGeom prst="rect">
            <a:avLst/>
          </a:prstGeom>
          <a:noFill/>
          <a:ln/>
        </p:spPr>
        <p:txBody>
          <a:bodyPr wrap="square" rtlCol="0" anchor="ctr"/>
          <a:lstStyle/>
          <a:p>
            <a:pPr algn="ctr" indent="0" marL="0">
              <a:buNone/>
            </a:pPr>
            <a:r>
              <a:rPr lang="en-US" sz="2100" b="1" dirty="0">
                <a:solidFill>
                  <a:srgbClr val="44DC8A"/>
                </a:solidFill>
                <a:latin typeface="Arial" pitchFamily="34" charset="0"/>
                <a:ea typeface="Arial" pitchFamily="34" charset="-122"/>
                <a:cs typeface="Arial" pitchFamily="34" charset="-120"/>
              </a:rPr>
              <a:t>✓</a:t>
            </a:r>
            <a:endParaRPr lang="en-US" sz="2100" dirty="0"/>
          </a:p>
        </p:txBody>
      </p:sp>
      <p:sp>
        <p:nvSpPr>
          <p:cNvPr id="33" name="Text 30"/>
          <p:cNvSpPr/>
          <p:nvPr/>
        </p:nvSpPr>
        <p:spPr>
          <a:xfrm>
            <a:off x="685800" y="5760720"/>
            <a:ext cx="10817352" cy="365760"/>
          </a:xfrm>
          <a:prstGeom prst="rect">
            <a:avLst/>
          </a:prstGeom>
          <a:noFill/>
          <a:ln/>
        </p:spPr>
        <p:txBody>
          <a:bodyPr wrap="square" rtlCol="0" anchor="ctr"/>
          <a:lstStyle/>
          <a:p>
            <a:pPr indent="0" marL="0">
              <a:buNone/>
            </a:pPr>
            <a:r>
              <a:rPr lang="en-US" sz="1400" b="1" dirty="0">
                <a:solidFill>
                  <a:srgbClr val="FF6A2C"/>
                </a:solidFill>
                <a:latin typeface="Arial" pitchFamily="34" charset="0"/>
                <a:ea typeface="Arial" pitchFamily="34" charset="-122"/>
                <a:cs typeface="Arial" pitchFamily="34" charset="-120"/>
              </a:rPr>
              <a:t>Somos el único que tiene los tres — y el crédito se gana jugando: no es un casino con otra cara.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2"/>
        </a:solidFill>
      </p:bgPr>
    </p:bg>
    <p:spTree>
      <p:nvGrpSpPr>
        <p:cNvPr id="1" name=""/>
        <p:cNvGrpSpPr/>
        <p:nvPr/>
      </p:nvGrpSpPr>
      <p:grpSpPr>
        <a:xfrm>
          <a:off x="0" y="0"/>
          <a:ext cx="0" cy="0"/>
          <a:chOff x="0" y="0"/>
          <a:chExt cx="0" cy="0"/>
        </a:xfrm>
      </p:grpSpPr>
      <p:sp>
        <p:nvSpPr>
          <p:cNvPr id="3" name="Text 0"/>
          <p:cNvSpPr/>
          <p:nvPr/>
        </p:nvSpPr>
        <p:spPr>
          <a:xfrm>
            <a:off x="685800" y="384048"/>
            <a:ext cx="10817352" cy="274320"/>
          </a:xfrm>
          <a:prstGeom prst="rect">
            <a:avLst/>
          </a:prstGeom>
          <a:noFill/>
          <a:ln/>
        </p:spPr>
        <p:txBody>
          <a:bodyPr wrap="square" rtlCol="0" anchor="ctr"/>
          <a:lstStyle/>
          <a:p>
            <a:pPr indent="0" marL="0">
              <a:buNone/>
            </a:pPr>
            <a:r>
              <a:rPr lang="en-US" sz="1300" b="1" spc="250" kern="0" dirty="0">
                <a:solidFill>
                  <a:srgbClr val="F2F3F5"/>
                </a:solidFill>
                <a:latin typeface="Arial" pitchFamily="34" charset="0"/>
                <a:ea typeface="Arial" pitchFamily="34" charset="-122"/>
                <a:cs typeface="Arial" pitchFamily="34" charset="-120"/>
              </a:rPr>
              <a:t>EQUIPO</a:t>
            </a:r>
            <a:endParaRPr lang="en-US" sz="1300" dirty="0"/>
          </a:p>
        </p:txBody>
      </p:sp>
      <p:sp>
        <p:nvSpPr>
          <p:cNvPr id="4" name="Text 1"/>
          <p:cNvSpPr/>
          <p:nvPr/>
        </p:nvSpPr>
        <p:spPr>
          <a:xfrm>
            <a:off x="685800" y="685800"/>
            <a:ext cx="10817352" cy="274320"/>
          </a:xfrm>
          <a:prstGeom prst="rect">
            <a:avLst/>
          </a:prstGeom>
          <a:noFill/>
          <a:ln/>
        </p:spPr>
        <p:txBody>
          <a:bodyPr wrap="square" rtlCol="0" anchor="ctr"/>
          <a:lstStyle/>
          <a:p>
            <a:pPr indent="0" marL="0">
              <a:buNone/>
            </a:pPr>
            <a:r>
              <a:rPr lang="en-US" sz="1300" dirty="0">
                <a:solidFill>
                  <a:srgbClr val="8A93A6"/>
                </a:solidFill>
                <a:latin typeface="Arial" pitchFamily="34" charset="0"/>
                <a:ea typeface="Arial" pitchFamily="34" charset="-122"/>
                <a:cs typeface="Arial" pitchFamily="34" charset="-120"/>
              </a:rPr>
              <a:t>Arturito Labs — dos personas.</a:t>
            </a:r>
            <a:endParaRPr lang="en-US" sz="1300" dirty="0"/>
          </a:p>
        </p:txBody>
      </p:sp>
      <p:sp>
        <p:nvSpPr>
          <p:cNvPr id="5" name="Shape 2"/>
          <p:cNvSpPr/>
          <p:nvPr/>
        </p:nvSpPr>
        <p:spPr>
          <a:xfrm>
            <a:off x="685800" y="1078992"/>
            <a:ext cx="10817352" cy="10973"/>
          </a:xfrm>
          <a:prstGeom prst="rect">
            <a:avLst/>
          </a:prstGeom>
          <a:solidFill>
            <a:srgbClr val="2A303C"/>
          </a:solidFill>
          <a:ln w="12700">
            <a:solidFill>
              <a:srgbClr val="333333"/>
            </a:solidFill>
            <a:prstDash val="solid"/>
          </a:ln>
        </p:spPr>
      </p:sp>
      <p:sp>
        <p:nvSpPr>
          <p:cNvPr id="6" name="Shape 3"/>
          <p:cNvSpPr/>
          <p:nvPr/>
        </p:nvSpPr>
        <p:spPr>
          <a:xfrm>
            <a:off x="685800" y="1600200"/>
            <a:ext cx="5303520" cy="3063240"/>
          </a:xfrm>
          <a:prstGeom prst="roundRect">
            <a:avLst>
              <a:gd name="adj" fmla="val 1791"/>
            </a:avLst>
          </a:prstGeom>
          <a:solidFill>
            <a:srgbClr val="161A22"/>
          </a:solidFill>
          <a:ln w="12700">
            <a:solidFill>
              <a:srgbClr val="2A303C"/>
            </a:solidFill>
            <a:prstDash val="solid"/>
          </a:ln>
        </p:spPr>
      </p:sp>
      <p:sp>
        <p:nvSpPr>
          <p:cNvPr id="7" name="Shape 4"/>
          <p:cNvSpPr/>
          <p:nvPr/>
        </p:nvSpPr>
        <p:spPr>
          <a:xfrm>
            <a:off x="1097280" y="1965960"/>
            <a:ext cx="658368" cy="658368"/>
          </a:xfrm>
          <a:prstGeom prst="ellipse">
            <a:avLst/>
          </a:prstGeom>
          <a:solidFill>
            <a:srgbClr val="FF6A2C"/>
          </a:solidFill>
          <a:ln w="12700">
            <a:solidFill>
              <a:srgbClr val="333333"/>
            </a:solidFill>
            <a:prstDash val="solid"/>
          </a:ln>
        </p:spPr>
      </p:sp>
      <p:sp>
        <p:nvSpPr>
          <p:cNvPr id="8" name="Text 5"/>
          <p:cNvSpPr/>
          <p:nvPr/>
        </p:nvSpPr>
        <p:spPr>
          <a:xfrm>
            <a:off x="1920240" y="2011680"/>
            <a:ext cx="3840480" cy="347472"/>
          </a:xfrm>
          <a:prstGeom prst="rect">
            <a:avLst/>
          </a:prstGeom>
          <a:noFill/>
          <a:ln/>
        </p:spPr>
        <p:txBody>
          <a:bodyPr wrap="square" rtlCol="0" anchor="ctr"/>
          <a:lstStyle/>
          <a:p>
            <a:pPr indent="0" marL="0">
              <a:buNone/>
            </a:pPr>
            <a:r>
              <a:rPr lang="en-US" sz="1900" b="1" dirty="0">
                <a:solidFill>
                  <a:srgbClr val="F2F3F5"/>
                </a:solidFill>
                <a:latin typeface="Arial" pitchFamily="34" charset="0"/>
                <a:ea typeface="Arial" pitchFamily="34" charset="-122"/>
                <a:cs typeface="Arial" pitchFamily="34" charset="-120"/>
              </a:rPr>
              <a:t>[TU NOMBRE]</a:t>
            </a:r>
            <a:endParaRPr lang="en-US" sz="1900" dirty="0"/>
          </a:p>
        </p:txBody>
      </p:sp>
      <p:sp>
        <p:nvSpPr>
          <p:cNvPr id="9" name="Text 6"/>
          <p:cNvSpPr/>
          <p:nvPr/>
        </p:nvSpPr>
        <p:spPr>
          <a:xfrm>
            <a:off x="1920240" y="2359152"/>
            <a:ext cx="3840480" cy="274320"/>
          </a:xfrm>
          <a:prstGeom prst="rect">
            <a:avLst/>
          </a:prstGeom>
          <a:noFill/>
          <a:ln/>
        </p:spPr>
        <p:txBody>
          <a:bodyPr wrap="square" rtlCol="0" anchor="ctr"/>
          <a:lstStyle/>
          <a:p>
            <a:pPr indent="0" marL="0">
              <a:buNone/>
            </a:pPr>
            <a:r>
              <a:rPr lang="en-US" sz="1200" dirty="0">
                <a:solidFill>
                  <a:srgbClr val="FF6A2C"/>
                </a:solidFill>
                <a:latin typeface="Arial" pitchFamily="34" charset="0"/>
                <a:ea typeface="Arial" pitchFamily="34" charset="-122"/>
                <a:cs typeface="Arial" pitchFamily="34" charset="-120"/>
              </a:rPr>
              <a:t>Fundador · Contratos y producto</a:t>
            </a:r>
            <a:endParaRPr lang="en-US" sz="1200" dirty="0"/>
          </a:p>
        </p:txBody>
      </p:sp>
      <p:sp>
        <p:nvSpPr>
          <p:cNvPr id="10" name="Text 7"/>
          <p:cNvSpPr/>
          <p:nvPr/>
        </p:nvSpPr>
        <p:spPr>
          <a:xfrm>
            <a:off x="1097280" y="2971800"/>
            <a:ext cx="4572000" cy="1188720"/>
          </a:xfrm>
          <a:prstGeom prst="rect">
            <a:avLst/>
          </a:prstGeom>
          <a:noFill/>
          <a:ln/>
        </p:spPr>
        <p:txBody>
          <a:bodyPr wrap="square" rtlCol="0" anchor="ctr"/>
          <a:lstStyle/>
          <a:p>
            <a:pPr indent="0" marL="0">
              <a:lnSpc>
                <a:spcPts val="1900"/>
              </a:lnSpc>
              <a:buNone/>
            </a:pPr>
            <a:r>
              <a:rPr lang="en-US" sz="1250" dirty="0">
                <a:solidFill>
                  <a:srgbClr val="8A93A6"/>
                </a:solidFill>
                <a:latin typeface="Arial" pitchFamily="34" charset="0"/>
                <a:ea typeface="Arial" pitchFamily="34" charset="-122"/>
                <a:cs typeface="Arial" pitchFamily="34" charset="-120"/>
              </a:rPr>
              <a:t>4 contratos vivos y verificados</a:t>
            </a:r>
            <a:endParaRPr lang="en-US" sz="1250" dirty="0"/>
          </a:p>
          <a:p>
            <a:pPr indent="0" marL="0">
              <a:lnSpc>
                <a:spcPts val="1900"/>
              </a:lnSpc>
              <a:buNone/>
            </a:pPr>
            <a:r>
              <a:rPr lang="en-US" sz="1250" dirty="0">
                <a:solidFill>
                  <a:srgbClr val="8A93A6"/>
                </a:solidFill>
                <a:latin typeface="Arial" pitchFamily="34" charset="0"/>
                <a:ea typeface="Arial" pitchFamily="34" charset="-122"/>
                <a:cs typeface="Arial" pitchFamily="34" charset="-120"/>
              </a:rPr>
              <a:t>en Sepolia · 76/76 tests</a:t>
            </a:r>
            <a:endParaRPr lang="en-US" sz="1250" dirty="0"/>
          </a:p>
          <a:p>
            <a:pPr indent="0" marL="0">
              <a:lnSpc>
                <a:spcPts val="1900"/>
              </a:lnSpc>
              <a:buNone/>
            </a:pPr>
            <a:r>
              <a:rPr lang="en-US" sz="1250" dirty="0">
                <a:solidFill>
                  <a:srgbClr val="8A93A6"/>
                </a:solidFill>
                <a:latin typeface="Arial" pitchFamily="34" charset="0"/>
                <a:ea typeface="Arial" pitchFamily="34" charset="-122"/>
                <a:cs typeface="Arial" pitchFamily="34" charset="-120"/>
              </a:rPr>
              <a:t>Solidity · Chainlink VRF · Scaffold-ETH 2</a:t>
            </a:r>
            <a:endParaRPr lang="en-US" sz="1250" dirty="0"/>
          </a:p>
        </p:txBody>
      </p:sp>
      <p:sp>
        <p:nvSpPr>
          <p:cNvPr id="11" name="Shape 8"/>
          <p:cNvSpPr/>
          <p:nvPr/>
        </p:nvSpPr>
        <p:spPr>
          <a:xfrm>
            <a:off x="6199632" y="1600200"/>
            <a:ext cx="5303520" cy="3063240"/>
          </a:xfrm>
          <a:prstGeom prst="roundRect">
            <a:avLst>
              <a:gd name="adj" fmla="val 1791"/>
            </a:avLst>
          </a:prstGeom>
          <a:solidFill>
            <a:srgbClr val="161A22"/>
          </a:solidFill>
          <a:ln w="12700">
            <a:solidFill>
              <a:srgbClr val="2A303C"/>
            </a:solidFill>
            <a:prstDash val="solid"/>
          </a:ln>
        </p:spPr>
      </p:sp>
      <p:sp>
        <p:nvSpPr>
          <p:cNvPr id="12" name="Shape 9"/>
          <p:cNvSpPr/>
          <p:nvPr/>
        </p:nvSpPr>
        <p:spPr>
          <a:xfrm>
            <a:off x="6611112" y="1965960"/>
            <a:ext cx="658368" cy="658368"/>
          </a:xfrm>
          <a:prstGeom prst="ellipse">
            <a:avLst/>
          </a:prstGeom>
          <a:solidFill>
            <a:srgbClr val="2FE0E0"/>
          </a:solidFill>
          <a:ln w="12700">
            <a:solidFill>
              <a:srgbClr val="333333"/>
            </a:solidFill>
            <a:prstDash val="solid"/>
          </a:ln>
        </p:spPr>
      </p:sp>
      <p:sp>
        <p:nvSpPr>
          <p:cNvPr id="13" name="Text 10"/>
          <p:cNvSpPr/>
          <p:nvPr/>
        </p:nvSpPr>
        <p:spPr>
          <a:xfrm>
            <a:off x="7434072" y="2011680"/>
            <a:ext cx="3840480" cy="347472"/>
          </a:xfrm>
          <a:prstGeom prst="rect">
            <a:avLst/>
          </a:prstGeom>
          <a:noFill/>
          <a:ln/>
        </p:spPr>
        <p:txBody>
          <a:bodyPr wrap="square" rtlCol="0" anchor="ctr"/>
          <a:lstStyle/>
          <a:p>
            <a:pPr indent="0" marL="0">
              <a:buNone/>
            </a:pPr>
            <a:r>
              <a:rPr lang="en-US" sz="1900" b="1" dirty="0">
                <a:solidFill>
                  <a:srgbClr val="F2F3F5"/>
                </a:solidFill>
                <a:latin typeface="Arial" pitchFamily="34" charset="0"/>
                <a:ea typeface="Arial" pitchFamily="34" charset="-122"/>
                <a:cs typeface="Arial" pitchFamily="34" charset="-120"/>
              </a:rPr>
              <a:t>Emanuel Olivera</a:t>
            </a:r>
            <a:endParaRPr lang="en-US" sz="1900" dirty="0"/>
          </a:p>
        </p:txBody>
      </p:sp>
      <p:sp>
        <p:nvSpPr>
          <p:cNvPr id="14" name="Text 11"/>
          <p:cNvSpPr/>
          <p:nvPr/>
        </p:nvSpPr>
        <p:spPr>
          <a:xfrm>
            <a:off x="7434072" y="2359152"/>
            <a:ext cx="3840480" cy="274320"/>
          </a:xfrm>
          <a:prstGeom prst="rect">
            <a:avLst/>
          </a:prstGeom>
          <a:noFill/>
          <a:ln/>
        </p:spPr>
        <p:txBody>
          <a:bodyPr wrap="square" rtlCol="0" anchor="ctr"/>
          <a:lstStyle/>
          <a:p>
            <a:pPr indent="0" marL="0">
              <a:buNone/>
            </a:pPr>
            <a:r>
              <a:rPr lang="en-US" sz="1200" dirty="0">
                <a:solidFill>
                  <a:srgbClr val="2FE0E0"/>
                </a:solidFill>
                <a:latin typeface="Arial" pitchFamily="34" charset="0"/>
                <a:ea typeface="Arial" pitchFamily="34" charset="-122"/>
                <a:cs typeface="Arial" pitchFamily="34" charset="-120"/>
              </a:rPr>
              <a:t>Diseño</a:t>
            </a:r>
            <a:endParaRPr lang="en-US" sz="1200" dirty="0"/>
          </a:p>
        </p:txBody>
      </p:sp>
      <p:sp>
        <p:nvSpPr>
          <p:cNvPr id="15" name="Text 12"/>
          <p:cNvSpPr/>
          <p:nvPr/>
        </p:nvSpPr>
        <p:spPr>
          <a:xfrm>
            <a:off x="6611112" y="2971800"/>
            <a:ext cx="4572000" cy="1188720"/>
          </a:xfrm>
          <a:prstGeom prst="rect">
            <a:avLst/>
          </a:prstGeom>
          <a:noFill/>
          <a:ln/>
        </p:spPr>
        <p:txBody>
          <a:bodyPr wrap="square" rtlCol="0" anchor="ctr"/>
          <a:lstStyle/>
          <a:p>
            <a:pPr indent="0" marL="0">
              <a:lnSpc>
                <a:spcPts val="1900"/>
              </a:lnSpc>
              <a:buNone/>
            </a:pPr>
            <a:r>
              <a:rPr lang="en-US" sz="1250" dirty="0">
                <a:solidFill>
                  <a:srgbClr val="8A93A6"/>
                </a:solidFill>
                <a:latin typeface="Arial" pitchFamily="34" charset="0"/>
                <a:ea typeface="Arial" pitchFamily="34" charset="-122"/>
                <a:cs typeface="Arial" pitchFamily="34" charset="-120"/>
              </a:rPr>
              <a:t>Licenciado en Diseño de</a:t>
            </a:r>
            <a:endParaRPr lang="en-US" sz="1250" dirty="0"/>
          </a:p>
          <a:p>
            <a:pPr indent="0" marL="0">
              <a:lnSpc>
                <a:spcPts val="1900"/>
              </a:lnSpc>
              <a:buNone/>
            </a:pPr>
            <a:r>
              <a:rPr lang="en-US" sz="1250" dirty="0">
                <a:solidFill>
                  <a:srgbClr val="8A93A6"/>
                </a:solidFill>
                <a:latin typeface="Arial" pitchFamily="34" charset="0"/>
                <a:ea typeface="Arial" pitchFamily="34" charset="-122"/>
                <a:cs typeface="Arial" pitchFamily="34" charset="-120"/>
              </a:rPr>
              <a:t>Comunicación Visual</a:t>
            </a:r>
            <a:endParaRPr lang="en-US" sz="1250" dirty="0"/>
          </a:p>
          <a:p>
            <a:pPr indent="0" marL="0">
              <a:lnSpc>
                <a:spcPts val="1900"/>
              </a:lnSpc>
              <a:buNone/>
            </a:pPr>
            <a:r>
              <a:rPr lang="en-US" sz="1250" dirty="0">
                <a:solidFill>
                  <a:srgbClr val="8A93A6"/>
                </a:solidFill>
                <a:latin typeface="Arial" pitchFamily="34" charset="0"/>
                <a:ea typeface="Arial" pitchFamily="34" charset="-122"/>
                <a:cs typeface="Arial" pitchFamily="34" charset="-120"/>
              </a:rPr>
              <a:t>Identidad, deck y dirección de arte</a:t>
            </a:r>
            <a:endParaRPr lang="en-US" sz="1250" dirty="0"/>
          </a:p>
        </p:txBody>
      </p:sp>
      <p:sp>
        <p:nvSpPr>
          <p:cNvPr id="16" name="Text 13"/>
          <p:cNvSpPr/>
          <p:nvPr/>
        </p:nvSpPr>
        <p:spPr>
          <a:xfrm>
            <a:off x="685800" y="5074920"/>
            <a:ext cx="10817352" cy="365760"/>
          </a:xfrm>
          <a:prstGeom prst="rect">
            <a:avLst/>
          </a:prstGeom>
          <a:noFill/>
          <a:ln/>
        </p:spPr>
        <p:txBody>
          <a:bodyPr wrap="square" rtlCol="0" anchor="ctr"/>
          <a:lstStyle/>
          <a:p>
            <a:pPr indent="0" marL="0">
              <a:buNone/>
            </a:pPr>
            <a:r>
              <a:rPr lang="en-US" sz="1400" dirty="0">
                <a:solidFill>
                  <a:srgbClr val="F2F3F5"/>
                </a:solidFill>
                <a:latin typeface="Arial" pitchFamily="34" charset="0"/>
                <a:ea typeface="Arial" pitchFamily="34" charset="-122"/>
                <a:cs typeface="Arial" pitchFamily="34" charset="-120"/>
              </a:rPr>
              <a:t>El producto está construido y verificado. El diseño es propio. No hay nada tercerizado.</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2"/>
        </a:solidFill>
      </p:bgPr>
    </p:bg>
    <p:spTree>
      <p:nvGrpSpPr>
        <p:cNvPr id="1" name=""/>
        <p:cNvGrpSpPr/>
        <p:nvPr/>
      </p:nvGrpSpPr>
      <p:grpSpPr>
        <a:xfrm>
          <a:off x="0" y="0"/>
          <a:ext cx="0" cy="0"/>
          <a:chOff x="0" y="0"/>
          <a:chExt cx="0" cy="0"/>
        </a:xfrm>
      </p:grpSpPr>
      <p:sp>
        <p:nvSpPr>
          <p:cNvPr id="3" name="Text 0"/>
          <p:cNvSpPr/>
          <p:nvPr/>
        </p:nvSpPr>
        <p:spPr>
          <a:xfrm>
            <a:off x="685800" y="384048"/>
            <a:ext cx="10817352" cy="274320"/>
          </a:xfrm>
          <a:prstGeom prst="rect">
            <a:avLst/>
          </a:prstGeom>
          <a:noFill/>
          <a:ln/>
        </p:spPr>
        <p:txBody>
          <a:bodyPr wrap="square" rtlCol="0" anchor="ctr"/>
          <a:lstStyle/>
          <a:p>
            <a:pPr indent="0" marL="0">
              <a:buNone/>
            </a:pPr>
            <a:r>
              <a:rPr lang="en-US" sz="1300" b="1" spc="250" kern="0" dirty="0">
                <a:solidFill>
                  <a:srgbClr val="F2F3F5"/>
                </a:solidFill>
                <a:latin typeface="Arial" pitchFamily="34" charset="0"/>
                <a:ea typeface="Arial" pitchFamily="34" charset="-122"/>
                <a:cs typeface="Arial" pitchFamily="34" charset="-120"/>
              </a:rPr>
              <a:t>ROADMAP</a:t>
            </a:r>
            <a:endParaRPr lang="en-US" sz="1300" dirty="0"/>
          </a:p>
        </p:txBody>
      </p:sp>
      <p:sp>
        <p:nvSpPr>
          <p:cNvPr id="4" name="Text 1"/>
          <p:cNvSpPr/>
          <p:nvPr/>
        </p:nvSpPr>
        <p:spPr>
          <a:xfrm>
            <a:off x="685800" y="685800"/>
            <a:ext cx="10817352" cy="274320"/>
          </a:xfrm>
          <a:prstGeom prst="rect">
            <a:avLst/>
          </a:prstGeom>
          <a:noFill/>
          <a:ln/>
        </p:spPr>
        <p:txBody>
          <a:bodyPr wrap="square" rtlCol="0" anchor="ctr"/>
          <a:lstStyle/>
          <a:p>
            <a:pPr indent="0" marL="0">
              <a:buNone/>
            </a:pPr>
            <a:r>
              <a:rPr lang="en-US" sz="1300" dirty="0">
                <a:solidFill>
                  <a:srgbClr val="8A93A6"/>
                </a:solidFill>
                <a:latin typeface="Arial" pitchFamily="34" charset="0"/>
                <a:ea typeface="Arial" pitchFamily="34" charset="-122"/>
                <a:cs typeface="Arial" pitchFamily="34" charset="-120"/>
              </a:rPr>
              <a:t>Dónde estamos y hacia dónde va.</a:t>
            </a:r>
            <a:endParaRPr lang="en-US" sz="1300" dirty="0"/>
          </a:p>
        </p:txBody>
      </p:sp>
      <p:sp>
        <p:nvSpPr>
          <p:cNvPr id="5" name="Shape 2"/>
          <p:cNvSpPr/>
          <p:nvPr/>
        </p:nvSpPr>
        <p:spPr>
          <a:xfrm>
            <a:off x="685800" y="1078992"/>
            <a:ext cx="10817352" cy="10973"/>
          </a:xfrm>
          <a:prstGeom prst="rect">
            <a:avLst/>
          </a:prstGeom>
          <a:solidFill>
            <a:srgbClr val="2A303C"/>
          </a:solidFill>
          <a:ln w="12700">
            <a:solidFill>
              <a:srgbClr val="333333"/>
            </a:solidFill>
            <a:prstDash val="solid"/>
          </a:ln>
        </p:spPr>
      </p:sp>
      <p:sp>
        <p:nvSpPr>
          <p:cNvPr id="6" name="Shape 3"/>
          <p:cNvSpPr/>
          <p:nvPr/>
        </p:nvSpPr>
        <p:spPr>
          <a:xfrm>
            <a:off x="731520" y="1609344"/>
            <a:ext cx="182880" cy="182880"/>
          </a:xfrm>
          <a:prstGeom prst="ellipse">
            <a:avLst/>
          </a:prstGeom>
          <a:solidFill>
            <a:srgbClr val="44DC8A"/>
          </a:solidFill>
          <a:ln w="12700">
            <a:solidFill>
              <a:srgbClr val="333333"/>
            </a:solidFill>
            <a:prstDash val="solid"/>
          </a:ln>
        </p:spPr>
      </p:sp>
      <p:sp>
        <p:nvSpPr>
          <p:cNvPr id="7" name="Shape 4"/>
          <p:cNvSpPr/>
          <p:nvPr/>
        </p:nvSpPr>
        <p:spPr>
          <a:xfrm>
            <a:off x="813816" y="1792224"/>
            <a:ext cx="18288" cy="685800"/>
          </a:xfrm>
          <a:prstGeom prst="rect">
            <a:avLst/>
          </a:prstGeom>
          <a:solidFill>
            <a:srgbClr val="2A303C"/>
          </a:solidFill>
          <a:ln w="12700">
            <a:solidFill>
              <a:srgbClr val="333333"/>
            </a:solidFill>
            <a:prstDash val="solid"/>
          </a:ln>
        </p:spPr>
      </p:sp>
      <p:sp>
        <p:nvSpPr>
          <p:cNvPr id="8" name="Text 5"/>
          <p:cNvSpPr/>
          <p:nvPr/>
        </p:nvSpPr>
        <p:spPr>
          <a:xfrm>
            <a:off x="1143000" y="1536192"/>
            <a:ext cx="1371600" cy="292608"/>
          </a:xfrm>
          <a:prstGeom prst="rect">
            <a:avLst/>
          </a:prstGeom>
          <a:noFill/>
          <a:ln/>
        </p:spPr>
        <p:txBody>
          <a:bodyPr wrap="square" rtlCol="0" anchor="ctr"/>
          <a:lstStyle/>
          <a:p>
            <a:pPr indent="0" marL="0">
              <a:buNone/>
            </a:pPr>
            <a:r>
              <a:rPr lang="en-US" sz="1200" b="1" spc="120" kern="0" dirty="0">
                <a:solidFill>
                  <a:srgbClr val="44DC8A"/>
                </a:solidFill>
                <a:latin typeface="Arial" pitchFamily="34" charset="0"/>
                <a:ea typeface="Arial" pitchFamily="34" charset="-122"/>
                <a:cs typeface="Arial" pitchFamily="34" charset="-120"/>
              </a:rPr>
              <a:t>AHORA</a:t>
            </a:r>
            <a:endParaRPr lang="en-US" sz="1200" dirty="0"/>
          </a:p>
        </p:txBody>
      </p:sp>
      <p:sp>
        <p:nvSpPr>
          <p:cNvPr id="9" name="Text 6"/>
          <p:cNvSpPr/>
          <p:nvPr/>
        </p:nvSpPr>
        <p:spPr>
          <a:xfrm>
            <a:off x="2697480" y="1517904"/>
            <a:ext cx="8595360" cy="566928"/>
          </a:xfrm>
          <a:prstGeom prst="rect">
            <a:avLst/>
          </a:prstGeom>
          <a:noFill/>
          <a:ln/>
        </p:spPr>
        <p:txBody>
          <a:bodyPr wrap="square" rtlCol="0" anchor="ctr"/>
          <a:lstStyle/>
          <a:p>
            <a:pPr indent="0" marL="0">
              <a:lnSpc>
                <a:spcPts val="2000"/>
              </a:lnSpc>
              <a:buNone/>
            </a:pPr>
            <a:r>
              <a:rPr lang="en-US" sz="1400" dirty="0">
                <a:solidFill>
                  <a:srgbClr val="F2F3F5"/>
                </a:solidFill>
                <a:latin typeface="Arial" pitchFamily="34" charset="0"/>
                <a:ea typeface="Arial" pitchFamily="34" charset="-122"/>
                <a:cs typeface="Arial" pitchFamily="34" charset="-120"/>
              </a:rPr>
              <a:t>Loop completo probadamente justo, vivo y verificado en Sepolia</a:t>
            </a:r>
            <a:endParaRPr lang="en-US" sz="1400" dirty="0"/>
          </a:p>
        </p:txBody>
      </p:sp>
      <p:sp>
        <p:nvSpPr>
          <p:cNvPr id="10" name="Shape 7"/>
          <p:cNvSpPr/>
          <p:nvPr/>
        </p:nvSpPr>
        <p:spPr>
          <a:xfrm>
            <a:off x="731520" y="2478024"/>
            <a:ext cx="182880" cy="182880"/>
          </a:xfrm>
          <a:prstGeom prst="ellipse">
            <a:avLst/>
          </a:prstGeom>
          <a:solidFill>
            <a:srgbClr val="2FE0E0"/>
          </a:solidFill>
          <a:ln w="12700">
            <a:solidFill>
              <a:srgbClr val="333333"/>
            </a:solidFill>
            <a:prstDash val="solid"/>
          </a:ln>
        </p:spPr>
      </p:sp>
      <p:sp>
        <p:nvSpPr>
          <p:cNvPr id="11" name="Shape 8"/>
          <p:cNvSpPr/>
          <p:nvPr/>
        </p:nvSpPr>
        <p:spPr>
          <a:xfrm>
            <a:off x="813816" y="2660904"/>
            <a:ext cx="18288" cy="685800"/>
          </a:xfrm>
          <a:prstGeom prst="rect">
            <a:avLst/>
          </a:prstGeom>
          <a:solidFill>
            <a:srgbClr val="2A303C"/>
          </a:solidFill>
          <a:ln w="12700">
            <a:solidFill>
              <a:srgbClr val="333333"/>
            </a:solidFill>
            <a:prstDash val="solid"/>
          </a:ln>
        </p:spPr>
      </p:sp>
      <p:sp>
        <p:nvSpPr>
          <p:cNvPr id="12" name="Text 9"/>
          <p:cNvSpPr/>
          <p:nvPr/>
        </p:nvSpPr>
        <p:spPr>
          <a:xfrm>
            <a:off x="1143000" y="2404872"/>
            <a:ext cx="1371600" cy="292608"/>
          </a:xfrm>
          <a:prstGeom prst="rect">
            <a:avLst/>
          </a:prstGeom>
          <a:noFill/>
          <a:ln/>
        </p:spPr>
        <p:txBody>
          <a:bodyPr wrap="square" rtlCol="0" anchor="ctr"/>
          <a:lstStyle/>
          <a:p>
            <a:pPr indent="0" marL="0">
              <a:buNone/>
            </a:pPr>
            <a:r>
              <a:rPr lang="en-US" sz="1200" b="1" spc="120" kern="0" dirty="0">
                <a:solidFill>
                  <a:srgbClr val="2FE0E0"/>
                </a:solidFill>
                <a:latin typeface="Arial" pitchFamily="34" charset="0"/>
                <a:ea typeface="Arial" pitchFamily="34" charset="-122"/>
                <a:cs typeface="Arial" pitchFamily="34" charset="-120"/>
              </a:rPr>
              <a:t>PRÓXIMO</a:t>
            </a:r>
            <a:endParaRPr lang="en-US" sz="1200" dirty="0"/>
          </a:p>
        </p:txBody>
      </p:sp>
      <p:sp>
        <p:nvSpPr>
          <p:cNvPr id="13" name="Text 10"/>
          <p:cNvSpPr/>
          <p:nvPr/>
        </p:nvSpPr>
        <p:spPr>
          <a:xfrm>
            <a:off x="2697480" y="2386584"/>
            <a:ext cx="8595360" cy="566928"/>
          </a:xfrm>
          <a:prstGeom prst="rect">
            <a:avLst/>
          </a:prstGeom>
          <a:noFill/>
          <a:ln/>
        </p:spPr>
        <p:txBody>
          <a:bodyPr wrap="square" rtlCol="0" anchor="ctr"/>
          <a:lstStyle/>
          <a:p>
            <a:pPr indent="0" marL="0">
              <a:lnSpc>
                <a:spcPts val="2000"/>
              </a:lnSpc>
              <a:buNone/>
            </a:pPr>
            <a:r>
              <a:rPr lang="en-US" sz="1400" dirty="0">
                <a:solidFill>
                  <a:srgbClr val="F2F3F5"/>
                </a:solidFill>
                <a:latin typeface="Arial" pitchFamily="34" charset="0"/>
                <a:ea typeface="Arial" pitchFamily="34" charset="-122"/>
                <a:cs typeface="Arial" pitchFamily="34" charset="-120"/>
              </a:rPr>
              <a:t>UI de carrera + primeras carreras con público real</a:t>
            </a:r>
            <a:endParaRPr lang="en-US" sz="1400" dirty="0"/>
          </a:p>
        </p:txBody>
      </p:sp>
      <p:sp>
        <p:nvSpPr>
          <p:cNvPr id="14" name="Shape 11"/>
          <p:cNvSpPr/>
          <p:nvPr/>
        </p:nvSpPr>
        <p:spPr>
          <a:xfrm>
            <a:off x="731520" y="3346704"/>
            <a:ext cx="182880" cy="182880"/>
          </a:xfrm>
          <a:prstGeom prst="ellipse">
            <a:avLst/>
          </a:prstGeom>
          <a:solidFill>
            <a:srgbClr val="FF6A2C"/>
          </a:solidFill>
          <a:ln w="12700">
            <a:solidFill>
              <a:srgbClr val="333333"/>
            </a:solidFill>
            <a:prstDash val="solid"/>
          </a:ln>
        </p:spPr>
      </p:sp>
      <p:sp>
        <p:nvSpPr>
          <p:cNvPr id="15" name="Text 12"/>
          <p:cNvSpPr/>
          <p:nvPr/>
        </p:nvSpPr>
        <p:spPr>
          <a:xfrm>
            <a:off x="1143000" y="3273552"/>
            <a:ext cx="1371600" cy="292608"/>
          </a:xfrm>
          <a:prstGeom prst="rect">
            <a:avLst/>
          </a:prstGeom>
          <a:noFill/>
          <a:ln/>
        </p:spPr>
        <p:txBody>
          <a:bodyPr wrap="square" rtlCol="0" anchor="ctr"/>
          <a:lstStyle/>
          <a:p>
            <a:pPr indent="0" marL="0">
              <a:buNone/>
            </a:pPr>
            <a:r>
              <a:rPr lang="en-US" sz="1200" b="1" spc="120" kern="0" dirty="0">
                <a:solidFill>
                  <a:srgbClr val="FF6A2C"/>
                </a:solidFill>
                <a:latin typeface="Arial" pitchFamily="34" charset="0"/>
                <a:ea typeface="Arial" pitchFamily="34" charset="-122"/>
                <a:cs typeface="Arial" pitchFamily="34" charset="-120"/>
              </a:rPr>
              <a:t>FASE 2</a:t>
            </a:r>
            <a:endParaRPr lang="en-US" sz="1200" dirty="0"/>
          </a:p>
        </p:txBody>
      </p:sp>
      <p:sp>
        <p:nvSpPr>
          <p:cNvPr id="16" name="Text 13"/>
          <p:cNvSpPr/>
          <p:nvPr/>
        </p:nvSpPr>
        <p:spPr>
          <a:xfrm>
            <a:off x="2697480" y="3255264"/>
            <a:ext cx="8595360" cy="566928"/>
          </a:xfrm>
          <a:prstGeom prst="rect">
            <a:avLst/>
          </a:prstGeom>
          <a:noFill/>
          <a:ln/>
        </p:spPr>
        <p:txBody>
          <a:bodyPr wrap="square" rtlCol="0" anchor="ctr"/>
          <a:lstStyle/>
          <a:p>
            <a:pPr indent="0" marL="0">
              <a:lnSpc>
                <a:spcPts val="2000"/>
              </a:lnSpc>
              <a:buNone/>
            </a:pPr>
            <a:r>
              <a:rPr lang="en-US" sz="1400" dirty="0">
                <a:solidFill>
                  <a:srgbClr val="F2F3F5"/>
                </a:solidFill>
                <a:latin typeface="Arial" pitchFamily="34" charset="0"/>
                <a:ea typeface="Arial" pitchFamily="34" charset="-122"/>
                <a:cs typeface="Arial" pitchFamily="34" charset="-120"/>
              </a:rPr>
              <a:t>Carrera física semanal transmitida · las 16 bolitas reales espejadas</a:t>
            </a:r>
            <a:endParaRPr lang="en-US" sz="1400" dirty="0"/>
          </a:p>
          <a:p>
            <a:pPr indent="0" marL="0">
              <a:lnSpc>
                <a:spcPts val="2000"/>
              </a:lnSpc>
              <a:buNone/>
            </a:pPr>
            <a:r>
              <a:rPr lang="en-US" sz="1400" dirty="0">
                <a:solidFill>
                  <a:srgbClr val="F2F3F5"/>
                </a:solidFill>
                <a:latin typeface="Arial" pitchFamily="34" charset="0"/>
                <a:ea typeface="Arial" pitchFamily="34" charset="-122"/>
                <a:cs typeface="Arial" pitchFamily="34" charset="-120"/>
              </a:rPr>
              <a:t>onchain · apuestas «apostá lo que ganaste»</a:t>
            </a:r>
            <a:endParaRPr lang="en-US" sz="1400" dirty="0"/>
          </a:p>
        </p:txBody>
      </p:sp>
      <p:sp>
        <p:nvSpPr>
          <p:cNvPr id="17" name="Shape 14"/>
          <p:cNvSpPr/>
          <p:nvPr/>
        </p:nvSpPr>
        <p:spPr>
          <a:xfrm>
            <a:off x="685800" y="4315968"/>
            <a:ext cx="10817352" cy="10973"/>
          </a:xfrm>
          <a:prstGeom prst="rect">
            <a:avLst/>
          </a:prstGeom>
          <a:solidFill>
            <a:srgbClr val="2A303C"/>
          </a:solidFill>
          <a:ln w="12700">
            <a:solidFill>
              <a:srgbClr val="333333"/>
            </a:solidFill>
            <a:prstDash val="solid"/>
          </a:ln>
        </p:spPr>
      </p:sp>
      <p:sp>
        <p:nvSpPr>
          <p:cNvPr id="18" name="Text 15"/>
          <p:cNvSpPr/>
          <p:nvPr/>
        </p:nvSpPr>
        <p:spPr>
          <a:xfrm>
            <a:off x="685800" y="4553712"/>
            <a:ext cx="7589520" cy="914400"/>
          </a:xfrm>
          <a:prstGeom prst="rect">
            <a:avLst/>
          </a:prstGeom>
          <a:noFill/>
          <a:ln/>
        </p:spPr>
        <p:txBody>
          <a:bodyPr wrap="square" rtlCol="0" anchor="ctr"/>
          <a:lstStyle/>
          <a:p>
            <a:pPr indent="0" marL="0">
              <a:lnSpc>
                <a:spcPts val="3200"/>
              </a:lnSpc>
              <a:buNone/>
            </a:pPr>
            <a:r>
              <a:rPr lang="en-US" sz="2300" b="1" dirty="0">
                <a:solidFill>
                  <a:srgbClr val="F2F3F5"/>
                </a:solidFill>
                <a:latin typeface="Arial" pitchFamily="34" charset="0"/>
                <a:ea typeface="Arial" pitchFamily="34" charset="-122"/>
                <a:cs typeface="Arial" pitchFamily="34" charset="-120"/>
              </a:rPr>
              <a:t>Convertimos un fenómeno pasivo en un juego</a:t>
            </a:r>
            <a:endParaRPr lang="en-US" sz="2300" dirty="0"/>
          </a:p>
          <a:p>
            <a:pPr indent="0" marL="0">
              <a:lnSpc>
                <a:spcPts val="3200"/>
              </a:lnSpc>
              <a:buNone/>
            </a:pPr>
            <a:r>
              <a:rPr lang="en-US" sz="2300" b="1" dirty="0">
                <a:solidFill>
                  <a:srgbClr val="F2F3F5"/>
                </a:solidFill>
                <a:latin typeface="Arial" pitchFamily="34" charset="0"/>
                <a:ea typeface="Arial" pitchFamily="34" charset="-122"/>
                <a:cs typeface="Arial" pitchFamily="34" charset="-120"/>
              </a:rPr>
              <a:t>que se posee, se juega y se puede probar.</a:t>
            </a:r>
            <a:endParaRPr lang="en-US" sz="2300" dirty="0"/>
          </a:p>
        </p:txBody>
      </p:sp>
      <p:sp>
        <p:nvSpPr>
          <p:cNvPr id="19" name="Shape 16"/>
          <p:cNvSpPr/>
          <p:nvPr/>
        </p:nvSpPr>
        <p:spPr>
          <a:xfrm>
            <a:off x="9601200" y="4526280"/>
            <a:ext cx="1417320" cy="1417320"/>
          </a:xfrm>
          <a:prstGeom prst="rect">
            <a:avLst/>
          </a:prstGeom>
          <a:solidFill>
            <a:srgbClr val="161A22"/>
          </a:solidFill>
          <a:ln w="12700">
            <a:solidFill>
              <a:srgbClr val="2A303C"/>
            </a:solidFill>
            <a:prstDash val="solid"/>
          </a:ln>
        </p:spPr>
      </p:sp>
      <p:sp>
        <p:nvSpPr>
          <p:cNvPr id="20" name="Text 17"/>
          <p:cNvSpPr/>
          <p:nvPr/>
        </p:nvSpPr>
        <p:spPr>
          <a:xfrm>
            <a:off x="9601200" y="4526280"/>
            <a:ext cx="1417320" cy="1417320"/>
          </a:xfrm>
          <a:prstGeom prst="rect">
            <a:avLst/>
          </a:prstGeom>
          <a:noFill/>
          <a:ln/>
        </p:spPr>
        <p:txBody>
          <a:bodyPr wrap="square" rtlCol="0" anchor="ctr"/>
          <a:lstStyle/>
          <a:p>
            <a:pPr algn="ctr" indent="0" marL="0">
              <a:buNone/>
            </a:pPr>
            <a:r>
              <a:rPr lang="en-US" sz="1100" dirty="0">
                <a:solidFill>
                  <a:srgbClr val="8A93A6"/>
                </a:solidFill>
                <a:latin typeface="Arial" pitchFamily="34" charset="0"/>
                <a:ea typeface="Arial" pitchFamily="34" charset="-122"/>
                <a:cs typeface="Arial" pitchFamily="34" charset="-120"/>
              </a:rPr>
              <a:t>QR</a:t>
            </a:r>
            <a:endParaRPr lang="en-US" sz="1100" dirty="0"/>
          </a:p>
          <a:p>
            <a:pPr algn="ctr" indent="0" marL="0">
              <a:buNone/>
            </a:pPr>
            <a:r>
              <a:rPr lang="en-US" sz="1100" dirty="0">
                <a:solidFill>
                  <a:srgbClr val="8A93A6"/>
                </a:solidFill>
                <a:latin typeface="Arial" pitchFamily="34" charset="0"/>
                <a:ea typeface="Arial" pitchFamily="34" charset="-122"/>
                <a:cs typeface="Arial" pitchFamily="34" charset="-120"/>
              </a:rPr>
              <a:t>dApp</a:t>
            </a:r>
            <a:endParaRPr lang="en-US" sz="1100" dirty="0"/>
          </a:p>
        </p:txBody>
      </p:sp>
      <p:sp>
        <p:nvSpPr>
          <p:cNvPr id="21" name="Text 18"/>
          <p:cNvSpPr/>
          <p:nvPr/>
        </p:nvSpPr>
        <p:spPr>
          <a:xfrm>
            <a:off x="685800" y="6144768"/>
            <a:ext cx="10817352" cy="274320"/>
          </a:xfrm>
          <a:prstGeom prst="rect">
            <a:avLst/>
          </a:prstGeom>
          <a:noFill/>
          <a:ln/>
        </p:spPr>
        <p:txBody>
          <a:bodyPr wrap="square" rtlCol="0" anchor="ctr"/>
          <a:lstStyle/>
          <a:p>
            <a:pPr indent="0" marL="0">
              <a:buNone/>
            </a:pPr>
            <a:r>
              <a:rPr lang="en-US" sz="1000" dirty="0">
                <a:solidFill>
                  <a:srgbClr val="8A93A6"/>
                </a:solidFill>
                <a:latin typeface="Arial" pitchFamily="34" charset="0"/>
                <a:ea typeface="Arial" pitchFamily="34" charset="-122"/>
                <a:cs typeface="Arial" pitchFamily="34" charset="-120"/>
              </a:rPr>
              <a:t>MARBLESS  ·  MarbleRace 0x48C6…2215  ·  Sepolia · verificado  ·  Arturito Labs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MARBLESS — Pitch V2</dc:title>
  <dc:subject>PptxGenJS Presentation</dc:subject>
  <dc:creator>Arturito Labs</dc:creator>
  <cp:lastModifiedBy>Arturito Labs</cp:lastModifiedBy>
  <cp:revision>1</cp:revision>
  <dcterms:created xsi:type="dcterms:W3CDTF">2026-07-30T08:35:15Z</dcterms:created>
  <dcterms:modified xsi:type="dcterms:W3CDTF">2026-07-30T08:35:15Z</dcterms:modified>
</cp:coreProperties>
</file>